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8" r:id="rId3"/>
    <p:sldId id="275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8" r:id="rId12"/>
    <p:sldId id="279" r:id="rId13"/>
    <p:sldId id="269" r:id="rId14"/>
    <p:sldId id="270" r:id="rId15"/>
    <p:sldId id="264" r:id="rId16"/>
    <p:sldId id="274" r:id="rId17"/>
    <p:sldId id="273" r:id="rId18"/>
    <p:sldId id="272" r:id="rId19"/>
    <p:sldId id="265" r:id="rId20"/>
    <p:sldId id="277" r:id="rId21"/>
    <p:sldId id="278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43E8D1-C5D9-4DE4-AB5A-096546518407}">
  <a:tblStyle styleId="{4F43E8D1-C5D9-4DE4-AB5A-0965465184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CE84C5-79DC-4F9B-A957-7585A8368FB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7342F82-DF30-4ACC-ABBB-041305596915}">
      <dgm:prSet phldrT="[Текст]"/>
      <dgm:spPr/>
      <dgm:t>
        <a:bodyPr/>
        <a:lstStyle/>
        <a:p>
          <a:r>
            <a:rPr lang="ru-RU" dirty="0"/>
            <a:t>Текст договора</a:t>
          </a:r>
        </a:p>
      </dgm:t>
    </dgm:pt>
    <dgm:pt modelId="{B777C51B-12C3-4513-8D42-07A9850C34AC}" type="parTrans" cxnId="{FC51493D-61A1-486D-B179-FC54E1E84C76}">
      <dgm:prSet/>
      <dgm:spPr/>
      <dgm:t>
        <a:bodyPr/>
        <a:lstStyle/>
        <a:p>
          <a:endParaRPr lang="ru-RU"/>
        </a:p>
      </dgm:t>
    </dgm:pt>
    <dgm:pt modelId="{50640108-CD88-4BD9-B8D0-B31A31F4726D}" type="sibTrans" cxnId="{FC51493D-61A1-486D-B179-FC54E1E84C76}">
      <dgm:prSet/>
      <dgm:spPr/>
      <dgm:t>
        <a:bodyPr/>
        <a:lstStyle/>
        <a:p>
          <a:endParaRPr lang="ru-RU"/>
        </a:p>
      </dgm:t>
    </dgm:pt>
    <dgm:pt modelId="{E12815E4-CBA8-45FB-8026-4A2B198F2C15}">
      <dgm:prSet phldrT="[Текст]"/>
      <dgm:spPr>
        <a:solidFill>
          <a:srgbClr val="FF0000"/>
        </a:solidFill>
      </dgm:spPr>
      <dgm:t>
        <a:bodyPr/>
        <a:lstStyle/>
        <a:p>
          <a:r>
            <a:rPr lang="ru-RU" dirty="0"/>
            <a:t>Человек</a:t>
          </a:r>
        </a:p>
      </dgm:t>
    </dgm:pt>
    <dgm:pt modelId="{7DDF7575-876D-414B-9872-CE0A439280BF}" type="parTrans" cxnId="{CCC97753-92B1-4228-8134-2E11BC05CBBE}">
      <dgm:prSet/>
      <dgm:spPr/>
      <dgm:t>
        <a:bodyPr/>
        <a:lstStyle/>
        <a:p>
          <a:endParaRPr lang="ru-RU"/>
        </a:p>
      </dgm:t>
    </dgm:pt>
    <dgm:pt modelId="{07402EFF-D6EA-4677-9597-A21BD3088F30}" type="sibTrans" cxnId="{CCC97753-92B1-4228-8134-2E11BC05CBBE}">
      <dgm:prSet/>
      <dgm:spPr/>
      <dgm:t>
        <a:bodyPr/>
        <a:lstStyle/>
        <a:p>
          <a:endParaRPr lang="ru-RU"/>
        </a:p>
      </dgm:t>
    </dgm:pt>
    <dgm:pt modelId="{FD328566-FCD0-453B-951A-1311C595933A}">
      <dgm:prSet phldrT="[Текст]"/>
      <dgm:spPr/>
      <dgm:t>
        <a:bodyPr/>
        <a:lstStyle/>
        <a:p>
          <a:r>
            <a:rPr lang="ru-RU" dirty="0"/>
            <a:t>Выбор кода (кодов ) ОКПД2</a:t>
          </a:r>
        </a:p>
      </dgm:t>
    </dgm:pt>
    <dgm:pt modelId="{79FB4F33-FF49-4CA6-A9D2-82A4BF1EF72C}" type="parTrans" cxnId="{B15BE8E1-4489-499B-A911-7CABD439CDD4}">
      <dgm:prSet/>
      <dgm:spPr/>
      <dgm:t>
        <a:bodyPr/>
        <a:lstStyle/>
        <a:p>
          <a:endParaRPr lang="ru-RU"/>
        </a:p>
      </dgm:t>
    </dgm:pt>
    <dgm:pt modelId="{0B090863-9B12-4F12-ABBA-E72EAC3262C5}" type="sibTrans" cxnId="{B15BE8E1-4489-499B-A911-7CABD439CDD4}">
      <dgm:prSet/>
      <dgm:spPr/>
      <dgm:t>
        <a:bodyPr/>
        <a:lstStyle/>
        <a:p>
          <a:endParaRPr lang="ru-RU"/>
        </a:p>
      </dgm:t>
    </dgm:pt>
    <dgm:pt modelId="{F94DFF9A-98A0-40B9-8D56-461790F10DAE}" type="pres">
      <dgm:prSet presAssocID="{6ACE84C5-79DC-4F9B-A957-7585A8368FB0}" presName="Name0" presStyleCnt="0">
        <dgm:presLayoutVars>
          <dgm:dir/>
          <dgm:animLvl val="lvl"/>
          <dgm:resizeHandles val="exact"/>
        </dgm:presLayoutVars>
      </dgm:prSet>
      <dgm:spPr/>
    </dgm:pt>
    <dgm:pt modelId="{E711BC07-26CD-408F-BD50-D1E94A2F3D73}" type="pres">
      <dgm:prSet presAssocID="{07342F82-DF30-4ACC-ABBB-04130559691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DE68D5C-2A4D-47B9-98AF-DB66CEE7C08B}" type="pres">
      <dgm:prSet presAssocID="{50640108-CD88-4BD9-B8D0-B31A31F4726D}" presName="parTxOnlySpace" presStyleCnt="0"/>
      <dgm:spPr/>
    </dgm:pt>
    <dgm:pt modelId="{28CD9623-0FCD-4631-8833-D2DE1DDE2D18}" type="pres">
      <dgm:prSet presAssocID="{E12815E4-CBA8-45FB-8026-4A2B198F2C1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E18B88F-D6C1-4E5E-B6F8-537B5B431852}" type="pres">
      <dgm:prSet presAssocID="{07402EFF-D6EA-4677-9597-A21BD3088F30}" presName="parTxOnlySpace" presStyleCnt="0"/>
      <dgm:spPr/>
    </dgm:pt>
    <dgm:pt modelId="{271D5833-6A7C-42B4-A9A8-83A8629430AC}" type="pres">
      <dgm:prSet presAssocID="{FD328566-FCD0-453B-951A-1311C595933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C51493D-61A1-486D-B179-FC54E1E84C76}" srcId="{6ACE84C5-79DC-4F9B-A957-7585A8368FB0}" destId="{07342F82-DF30-4ACC-ABBB-041305596915}" srcOrd="0" destOrd="0" parTransId="{B777C51B-12C3-4513-8D42-07A9850C34AC}" sibTransId="{50640108-CD88-4BD9-B8D0-B31A31F4726D}"/>
    <dgm:cxn modelId="{2B18584D-6984-4D74-B895-54CF0927E487}" type="presOf" srcId="{6ACE84C5-79DC-4F9B-A957-7585A8368FB0}" destId="{F94DFF9A-98A0-40B9-8D56-461790F10DAE}" srcOrd="0" destOrd="0" presId="urn:microsoft.com/office/officeart/2005/8/layout/chevron1"/>
    <dgm:cxn modelId="{FEEB8270-5D95-42DF-BCCE-0C89B947DD48}" type="presOf" srcId="{E12815E4-CBA8-45FB-8026-4A2B198F2C15}" destId="{28CD9623-0FCD-4631-8833-D2DE1DDE2D18}" srcOrd="0" destOrd="0" presId="urn:microsoft.com/office/officeart/2005/8/layout/chevron1"/>
    <dgm:cxn modelId="{CCC97753-92B1-4228-8134-2E11BC05CBBE}" srcId="{6ACE84C5-79DC-4F9B-A957-7585A8368FB0}" destId="{E12815E4-CBA8-45FB-8026-4A2B198F2C15}" srcOrd="1" destOrd="0" parTransId="{7DDF7575-876D-414B-9872-CE0A439280BF}" sibTransId="{07402EFF-D6EA-4677-9597-A21BD3088F30}"/>
    <dgm:cxn modelId="{A9D9DD9D-A893-4BE8-8CCF-5FCE1532C7F2}" type="presOf" srcId="{07342F82-DF30-4ACC-ABBB-041305596915}" destId="{E711BC07-26CD-408F-BD50-D1E94A2F3D73}" srcOrd="0" destOrd="0" presId="urn:microsoft.com/office/officeart/2005/8/layout/chevron1"/>
    <dgm:cxn modelId="{B15BE8E1-4489-499B-A911-7CABD439CDD4}" srcId="{6ACE84C5-79DC-4F9B-A957-7585A8368FB0}" destId="{FD328566-FCD0-453B-951A-1311C595933A}" srcOrd="2" destOrd="0" parTransId="{79FB4F33-FF49-4CA6-A9D2-82A4BF1EF72C}" sibTransId="{0B090863-9B12-4F12-ABBA-E72EAC3262C5}"/>
    <dgm:cxn modelId="{829CEAFE-B4DC-4393-96D3-E83928B6FA66}" type="presOf" srcId="{FD328566-FCD0-453B-951A-1311C595933A}" destId="{271D5833-6A7C-42B4-A9A8-83A8629430AC}" srcOrd="0" destOrd="0" presId="urn:microsoft.com/office/officeart/2005/8/layout/chevron1"/>
    <dgm:cxn modelId="{D9C2D560-56FE-48A8-8232-9AEF39109EA0}" type="presParOf" srcId="{F94DFF9A-98A0-40B9-8D56-461790F10DAE}" destId="{E711BC07-26CD-408F-BD50-D1E94A2F3D73}" srcOrd="0" destOrd="0" presId="urn:microsoft.com/office/officeart/2005/8/layout/chevron1"/>
    <dgm:cxn modelId="{A35DBC5E-FA9E-43DE-87FD-9A1674A2FDC4}" type="presParOf" srcId="{F94DFF9A-98A0-40B9-8D56-461790F10DAE}" destId="{EDE68D5C-2A4D-47B9-98AF-DB66CEE7C08B}" srcOrd="1" destOrd="0" presId="urn:microsoft.com/office/officeart/2005/8/layout/chevron1"/>
    <dgm:cxn modelId="{F4E13EC0-EA8B-4A20-83BF-9915FE1FBC58}" type="presParOf" srcId="{F94DFF9A-98A0-40B9-8D56-461790F10DAE}" destId="{28CD9623-0FCD-4631-8833-D2DE1DDE2D18}" srcOrd="2" destOrd="0" presId="urn:microsoft.com/office/officeart/2005/8/layout/chevron1"/>
    <dgm:cxn modelId="{9C81D0F4-FEE5-4FE8-BCAE-45EF3110AEAF}" type="presParOf" srcId="{F94DFF9A-98A0-40B9-8D56-461790F10DAE}" destId="{BE18B88F-D6C1-4E5E-B6F8-537B5B431852}" srcOrd="3" destOrd="0" presId="urn:microsoft.com/office/officeart/2005/8/layout/chevron1"/>
    <dgm:cxn modelId="{1582330F-F91B-41CC-8EEE-BF27A2155A19}" type="presParOf" srcId="{F94DFF9A-98A0-40B9-8D56-461790F10DAE}" destId="{271D5833-6A7C-42B4-A9A8-83A8629430A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CE84C5-79DC-4F9B-A957-7585A8368FB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7342F82-DF30-4ACC-ABBB-041305596915}">
      <dgm:prSet phldrT="[Текст]"/>
      <dgm:spPr/>
      <dgm:t>
        <a:bodyPr/>
        <a:lstStyle/>
        <a:p>
          <a:r>
            <a:rPr lang="ru-RU" dirty="0"/>
            <a:t>Текст договора</a:t>
          </a:r>
        </a:p>
      </dgm:t>
    </dgm:pt>
    <dgm:pt modelId="{B777C51B-12C3-4513-8D42-07A9850C34AC}" type="parTrans" cxnId="{FC51493D-61A1-486D-B179-FC54E1E84C76}">
      <dgm:prSet/>
      <dgm:spPr/>
      <dgm:t>
        <a:bodyPr/>
        <a:lstStyle/>
        <a:p>
          <a:endParaRPr lang="ru-RU"/>
        </a:p>
      </dgm:t>
    </dgm:pt>
    <dgm:pt modelId="{50640108-CD88-4BD9-B8D0-B31A31F4726D}" type="sibTrans" cxnId="{FC51493D-61A1-486D-B179-FC54E1E84C76}">
      <dgm:prSet/>
      <dgm:spPr/>
      <dgm:t>
        <a:bodyPr/>
        <a:lstStyle/>
        <a:p>
          <a:endParaRPr lang="ru-RU"/>
        </a:p>
      </dgm:t>
    </dgm:pt>
    <dgm:pt modelId="{E12815E4-CBA8-45FB-8026-4A2B198F2C15}">
      <dgm:prSet phldrT="[Текст]"/>
      <dgm:spPr>
        <a:solidFill>
          <a:srgbClr val="92D050"/>
        </a:solidFill>
      </dgm:spPr>
      <dgm:t>
        <a:bodyPr/>
        <a:lstStyle/>
        <a:p>
          <a:r>
            <a:rPr lang="en-US" dirty="0"/>
            <a:t>ML/DL </a:t>
          </a:r>
          <a:r>
            <a:rPr lang="ru-RU" dirty="0"/>
            <a:t>модель</a:t>
          </a:r>
        </a:p>
      </dgm:t>
    </dgm:pt>
    <dgm:pt modelId="{7DDF7575-876D-414B-9872-CE0A439280BF}" type="parTrans" cxnId="{CCC97753-92B1-4228-8134-2E11BC05CBBE}">
      <dgm:prSet/>
      <dgm:spPr/>
      <dgm:t>
        <a:bodyPr/>
        <a:lstStyle/>
        <a:p>
          <a:endParaRPr lang="ru-RU"/>
        </a:p>
      </dgm:t>
    </dgm:pt>
    <dgm:pt modelId="{07402EFF-D6EA-4677-9597-A21BD3088F30}" type="sibTrans" cxnId="{CCC97753-92B1-4228-8134-2E11BC05CBBE}">
      <dgm:prSet/>
      <dgm:spPr/>
      <dgm:t>
        <a:bodyPr/>
        <a:lstStyle/>
        <a:p>
          <a:endParaRPr lang="ru-RU"/>
        </a:p>
      </dgm:t>
    </dgm:pt>
    <dgm:pt modelId="{FD328566-FCD0-453B-951A-1311C595933A}">
      <dgm:prSet phldrT="[Текст]"/>
      <dgm:spPr/>
      <dgm:t>
        <a:bodyPr/>
        <a:lstStyle/>
        <a:p>
          <a:r>
            <a:rPr lang="ru-RU" dirty="0"/>
            <a:t>Выбор кода (кодов ) ОКПД2</a:t>
          </a:r>
        </a:p>
      </dgm:t>
    </dgm:pt>
    <dgm:pt modelId="{79FB4F33-FF49-4CA6-A9D2-82A4BF1EF72C}" type="parTrans" cxnId="{B15BE8E1-4489-499B-A911-7CABD439CDD4}">
      <dgm:prSet/>
      <dgm:spPr/>
      <dgm:t>
        <a:bodyPr/>
        <a:lstStyle/>
        <a:p>
          <a:endParaRPr lang="ru-RU"/>
        </a:p>
      </dgm:t>
    </dgm:pt>
    <dgm:pt modelId="{0B090863-9B12-4F12-ABBA-E72EAC3262C5}" type="sibTrans" cxnId="{B15BE8E1-4489-499B-A911-7CABD439CDD4}">
      <dgm:prSet/>
      <dgm:spPr/>
      <dgm:t>
        <a:bodyPr/>
        <a:lstStyle/>
        <a:p>
          <a:endParaRPr lang="ru-RU"/>
        </a:p>
      </dgm:t>
    </dgm:pt>
    <dgm:pt modelId="{F94DFF9A-98A0-40B9-8D56-461790F10DAE}" type="pres">
      <dgm:prSet presAssocID="{6ACE84C5-79DC-4F9B-A957-7585A8368FB0}" presName="Name0" presStyleCnt="0">
        <dgm:presLayoutVars>
          <dgm:dir/>
          <dgm:animLvl val="lvl"/>
          <dgm:resizeHandles val="exact"/>
        </dgm:presLayoutVars>
      </dgm:prSet>
      <dgm:spPr/>
    </dgm:pt>
    <dgm:pt modelId="{E711BC07-26CD-408F-BD50-D1E94A2F3D73}" type="pres">
      <dgm:prSet presAssocID="{07342F82-DF30-4ACC-ABBB-04130559691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DE68D5C-2A4D-47B9-98AF-DB66CEE7C08B}" type="pres">
      <dgm:prSet presAssocID="{50640108-CD88-4BD9-B8D0-B31A31F4726D}" presName="parTxOnlySpace" presStyleCnt="0"/>
      <dgm:spPr/>
    </dgm:pt>
    <dgm:pt modelId="{28CD9623-0FCD-4631-8833-D2DE1DDE2D18}" type="pres">
      <dgm:prSet presAssocID="{E12815E4-CBA8-45FB-8026-4A2B198F2C1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E18B88F-D6C1-4E5E-B6F8-537B5B431852}" type="pres">
      <dgm:prSet presAssocID="{07402EFF-D6EA-4677-9597-A21BD3088F30}" presName="parTxOnlySpace" presStyleCnt="0"/>
      <dgm:spPr/>
    </dgm:pt>
    <dgm:pt modelId="{271D5833-6A7C-42B4-A9A8-83A8629430AC}" type="pres">
      <dgm:prSet presAssocID="{FD328566-FCD0-453B-951A-1311C595933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C51493D-61A1-486D-B179-FC54E1E84C76}" srcId="{6ACE84C5-79DC-4F9B-A957-7585A8368FB0}" destId="{07342F82-DF30-4ACC-ABBB-041305596915}" srcOrd="0" destOrd="0" parTransId="{B777C51B-12C3-4513-8D42-07A9850C34AC}" sibTransId="{50640108-CD88-4BD9-B8D0-B31A31F4726D}"/>
    <dgm:cxn modelId="{2B18584D-6984-4D74-B895-54CF0927E487}" type="presOf" srcId="{6ACE84C5-79DC-4F9B-A957-7585A8368FB0}" destId="{F94DFF9A-98A0-40B9-8D56-461790F10DAE}" srcOrd="0" destOrd="0" presId="urn:microsoft.com/office/officeart/2005/8/layout/chevron1"/>
    <dgm:cxn modelId="{FEEB8270-5D95-42DF-BCCE-0C89B947DD48}" type="presOf" srcId="{E12815E4-CBA8-45FB-8026-4A2B198F2C15}" destId="{28CD9623-0FCD-4631-8833-D2DE1DDE2D18}" srcOrd="0" destOrd="0" presId="urn:microsoft.com/office/officeart/2005/8/layout/chevron1"/>
    <dgm:cxn modelId="{CCC97753-92B1-4228-8134-2E11BC05CBBE}" srcId="{6ACE84C5-79DC-4F9B-A957-7585A8368FB0}" destId="{E12815E4-CBA8-45FB-8026-4A2B198F2C15}" srcOrd="1" destOrd="0" parTransId="{7DDF7575-876D-414B-9872-CE0A439280BF}" sibTransId="{07402EFF-D6EA-4677-9597-A21BD3088F30}"/>
    <dgm:cxn modelId="{A9D9DD9D-A893-4BE8-8CCF-5FCE1532C7F2}" type="presOf" srcId="{07342F82-DF30-4ACC-ABBB-041305596915}" destId="{E711BC07-26CD-408F-BD50-D1E94A2F3D73}" srcOrd="0" destOrd="0" presId="urn:microsoft.com/office/officeart/2005/8/layout/chevron1"/>
    <dgm:cxn modelId="{B15BE8E1-4489-499B-A911-7CABD439CDD4}" srcId="{6ACE84C5-79DC-4F9B-A957-7585A8368FB0}" destId="{FD328566-FCD0-453B-951A-1311C595933A}" srcOrd="2" destOrd="0" parTransId="{79FB4F33-FF49-4CA6-A9D2-82A4BF1EF72C}" sibTransId="{0B090863-9B12-4F12-ABBA-E72EAC3262C5}"/>
    <dgm:cxn modelId="{829CEAFE-B4DC-4393-96D3-E83928B6FA66}" type="presOf" srcId="{FD328566-FCD0-453B-951A-1311C595933A}" destId="{271D5833-6A7C-42B4-A9A8-83A8629430AC}" srcOrd="0" destOrd="0" presId="urn:microsoft.com/office/officeart/2005/8/layout/chevron1"/>
    <dgm:cxn modelId="{D9C2D560-56FE-48A8-8232-9AEF39109EA0}" type="presParOf" srcId="{F94DFF9A-98A0-40B9-8D56-461790F10DAE}" destId="{E711BC07-26CD-408F-BD50-D1E94A2F3D73}" srcOrd="0" destOrd="0" presId="urn:microsoft.com/office/officeart/2005/8/layout/chevron1"/>
    <dgm:cxn modelId="{A35DBC5E-FA9E-43DE-87FD-9A1674A2FDC4}" type="presParOf" srcId="{F94DFF9A-98A0-40B9-8D56-461790F10DAE}" destId="{EDE68D5C-2A4D-47B9-98AF-DB66CEE7C08B}" srcOrd="1" destOrd="0" presId="urn:microsoft.com/office/officeart/2005/8/layout/chevron1"/>
    <dgm:cxn modelId="{F4E13EC0-EA8B-4A20-83BF-9915FE1FBC58}" type="presParOf" srcId="{F94DFF9A-98A0-40B9-8D56-461790F10DAE}" destId="{28CD9623-0FCD-4631-8833-D2DE1DDE2D18}" srcOrd="2" destOrd="0" presId="urn:microsoft.com/office/officeart/2005/8/layout/chevron1"/>
    <dgm:cxn modelId="{9C81D0F4-FEE5-4FE8-BCAE-45EF3110AEAF}" type="presParOf" srcId="{F94DFF9A-98A0-40B9-8D56-461790F10DAE}" destId="{BE18B88F-D6C1-4E5E-B6F8-537B5B431852}" srcOrd="3" destOrd="0" presId="urn:microsoft.com/office/officeart/2005/8/layout/chevron1"/>
    <dgm:cxn modelId="{1582330F-F91B-41CC-8EEE-BF27A2155A19}" type="presParOf" srcId="{F94DFF9A-98A0-40B9-8D56-461790F10DAE}" destId="{271D5833-6A7C-42B4-A9A8-83A8629430A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1BC07-26CD-408F-BD50-D1E94A2F3D73}">
      <dsp:nvSpPr>
        <dsp:cNvPr id="0" name=""/>
        <dsp:cNvSpPr/>
      </dsp:nvSpPr>
      <dsp:spPr>
        <a:xfrm>
          <a:off x="1696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Текст договора</a:t>
          </a:r>
        </a:p>
      </dsp:txBody>
      <dsp:txXfrm>
        <a:off x="415111" y="461403"/>
        <a:ext cx="1240244" cy="826829"/>
      </dsp:txXfrm>
    </dsp:sp>
    <dsp:sp modelId="{28CD9623-0FCD-4631-8833-D2DE1DDE2D18}">
      <dsp:nvSpPr>
        <dsp:cNvPr id="0" name=""/>
        <dsp:cNvSpPr/>
      </dsp:nvSpPr>
      <dsp:spPr>
        <a:xfrm>
          <a:off x="1862063" y="461403"/>
          <a:ext cx="2067073" cy="826829"/>
        </a:xfrm>
        <a:prstGeom prst="chevron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Человек</a:t>
          </a:r>
        </a:p>
      </dsp:txBody>
      <dsp:txXfrm>
        <a:off x="2275478" y="461403"/>
        <a:ext cx="1240244" cy="826829"/>
      </dsp:txXfrm>
    </dsp:sp>
    <dsp:sp modelId="{271D5833-6A7C-42B4-A9A8-83A8629430AC}">
      <dsp:nvSpPr>
        <dsp:cNvPr id="0" name=""/>
        <dsp:cNvSpPr/>
      </dsp:nvSpPr>
      <dsp:spPr>
        <a:xfrm>
          <a:off x="3722429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Выбор кода (кодов ) ОКПД2</a:t>
          </a:r>
        </a:p>
      </dsp:txBody>
      <dsp:txXfrm>
        <a:off x="4135844" y="461403"/>
        <a:ext cx="1240244" cy="8268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1BC07-26CD-408F-BD50-D1E94A2F3D73}">
      <dsp:nvSpPr>
        <dsp:cNvPr id="0" name=""/>
        <dsp:cNvSpPr/>
      </dsp:nvSpPr>
      <dsp:spPr>
        <a:xfrm>
          <a:off x="1696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Текст договора</a:t>
          </a:r>
        </a:p>
      </dsp:txBody>
      <dsp:txXfrm>
        <a:off x="415111" y="461403"/>
        <a:ext cx="1240244" cy="826829"/>
      </dsp:txXfrm>
    </dsp:sp>
    <dsp:sp modelId="{28CD9623-0FCD-4631-8833-D2DE1DDE2D18}">
      <dsp:nvSpPr>
        <dsp:cNvPr id="0" name=""/>
        <dsp:cNvSpPr/>
      </dsp:nvSpPr>
      <dsp:spPr>
        <a:xfrm>
          <a:off x="1862063" y="461403"/>
          <a:ext cx="2067073" cy="826829"/>
        </a:xfrm>
        <a:prstGeom prst="chevron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ML/DL </a:t>
          </a:r>
          <a:r>
            <a:rPr lang="ru-RU" sz="1600" kern="1200" dirty="0"/>
            <a:t>модель</a:t>
          </a:r>
        </a:p>
      </dsp:txBody>
      <dsp:txXfrm>
        <a:off x="2275478" y="461403"/>
        <a:ext cx="1240244" cy="826829"/>
      </dsp:txXfrm>
    </dsp:sp>
    <dsp:sp modelId="{271D5833-6A7C-42B4-A9A8-83A8629430AC}">
      <dsp:nvSpPr>
        <dsp:cNvPr id="0" name=""/>
        <dsp:cNvSpPr/>
      </dsp:nvSpPr>
      <dsp:spPr>
        <a:xfrm>
          <a:off x="3722429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Выбор кода (кодов ) ОКПД2</a:t>
          </a:r>
        </a:p>
      </dsp:txBody>
      <dsp:txXfrm>
        <a:off x="4135844" y="461403"/>
        <a:ext cx="1240244" cy="826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77d9294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77d9294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77d9294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77d9294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26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677d9294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677d9294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77d9294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77d9294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77d9294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677d9294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677d9294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677d9294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77d9294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77d9294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77d9294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77d9294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524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77d9294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77d9294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77d9294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77d9294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072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77d9294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77d9294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510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77d9294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677d9294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77d9294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677d9294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4519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77d9294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677d9294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41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zakupki.gov.r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zakupki.gov.ru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Извлечение содержания предмета сделки из текстов договорных документов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628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97: Алдаров Александр (@Aldarov)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Куратор: Савелий Прохоров (@Savely_Prokhorov)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/>
              <a:t>Уточнение цели: классификация договора в зависимости от предмета по второму уровню ОКПД2</a:t>
            </a:r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F2B36B0C-9156-4D23-9A78-F3725E41CA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7875818"/>
              </p:ext>
            </p:extLst>
          </p:nvPr>
        </p:nvGraphicFramePr>
        <p:xfrm>
          <a:off x="315087" y="904272"/>
          <a:ext cx="5791200" cy="174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45608F68-F04C-46B4-873D-40B5C8C3E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713984"/>
              </p:ext>
            </p:extLst>
          </p:nvPr>
        </p:nvGraphicFramePr>
        <p:xfrm>
          <a:off x="3037713" y="1822650"/>
          <a:ext cx="5791200" cy="174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19DF4AF-30B0-4734-9FC5-649037469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72776"/>
              </p:ext>
            </p:extLst>
          </p:nvPr>
        </p:nvGraphicFramePr>
        <p:xfrm>
          <a:off x="311700" y="3604940"/>
          <a:ext cx="6453294" cy="149352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3226647">
                  <a:extLst>
                    <a:ext uri="{9D8B030D-6E8A-4147-A177-3AD203B41FA5}">
                      <a16:colId xmlns:a16="http://schemas.microsoft.com/office/drawing/2014/main" val="3449044952"/>
                    </a:ext>
                  </a:extLst>
                </a:gridCol>
                <a:gridCol w="3226647">
                  <a:extLst>
                    <a:ext uri="{9D8B030D-6E8A-4147-A177-3AD203B41FA5}">
                      <a16:colId xmlns:a16="http://schemas.microsoft.com/office/drawing/2014/main" val="34012754"/>
                    </a:ext>
                  </a:extLst>
                </a:gridCol>
              </a:tblGrid>
              <a:tr h="320057"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</a:rPr>
                        <a:t>Боль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Решение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421793"/>
                  </a:ext>
                </a:extLst>
              </a:tr>
              <a:tr h="320057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Дорого (оплата экспертов)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</a:rPr>
                        <a:t>Автоматизация → экономия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52264927"/>
                  </a:ext>
                </a:extLst>
              </a:tr>
              <a:tr h="320057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Долго (минуты и часы на контракт)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Мгновенный ответ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58534223"/>
                  </a:ext>
                </a:extLst>
              </a:tr>
              <a:tr h="320057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Ошибки (пропуск кодов)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Точность 81%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9898536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95E9528-40DF-4942-B7F8-5E00CE51589C}"/>
              </a:ext>
            </a:extLst>
          </p:cNvPr>
          <p:cNvSpPr txBox="1"/>
          <p:nvPr/>
        </p:nvSpPr>
        <p:spPr>
          <a:xfrm>
            <a:off x="311700" y="2723035"/>
            <a:ext cx="27260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84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класса ОКПД2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200k+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договоров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590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/>
              <a:t>Главная проблема: кризис </a:t>
            </a:r>
            <a:r>
              <a:rPr lang="ru-RU" sz="2500" dirty="0" err="1"/>
              <a:t>моносемии</a:t>
            </a:r>
            <a:endParaRPr lang="ru-RU" sz="2500" dirty="0"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ED637-11C6-42B2-915E-C015EC615460}"/>
              </a:ext>
            </a:extLst>
          </p:cNvPr>
          <p:cNvSpPr txBox="1"/>
          <p:nvPr/>
        </p:nvSpPr>
        <p:spPr>
          <a:xfrm>
            <a:off x="311700" y="1104053"/>
            <a:ext cx="8520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Моносемия</a:t>
            </a:r>
            <a:r>
              <a:rPr lang="ru-RU" dirty="0"/>
              <a:t> – допущение, что у текста есть </a:t>
            </a:r>
            <a:r>
              <a:rPr lang="ru-RU" b="1" dirty="0">
                <a:solidFill>
                  <a:srgbClr val="FF0000"/>
                </a:solidFill>
              </a:rPr>
              <a:t>одно семантическое представление</a:t>
            </a:r>
            <a:r>
              <a:rPr lang="ru-RU" dirty="0"/>
              <a:t>.</a:t>
            </a:r>
          </a:p>
          <a:p>
            <a:r>
              <a:rPr lang="ru-RU" dirty="0"/>
              <a:t>Разные понимания считаются шумом, который нужно усреднять или игнорировать.</a:t>
            </a:r>
          </a:p>
          <a:p>
            <a:endParaRPr lang="ru-RU" dirty="0"/>
          </a:p>
          <a:p>
            <a:r>
              <a:rPr lang="ru-RU" dirty="0"/>
              <a:t>Где это вшито в современные LLM:</a:t>
            </a:r>
          </a:p>
          <a:p>
            <a:pPr lvl="1"/>
            <a:r>
              <a:rPr lang="ru-RU" dirty="0"/>
              <a:t>	Кросс‑энтропия предполагает один правильный ответ</a:t>
            </a:r>
          </a:p>
          <a:p>
            <a:pPr lvl="1"/>
            <a:r>
              <a:rPr lang="ru-RU" dirty="0"/>
              <a:t>	</a:t>
            </a:r>
            <a:r>
              <a:rPr lang="ru-RU" dirty="0" err="1"/>
              <a:t>Accuracy</a:t>
            </a:r>
            <a:r>
              <a:rPr lang="ru-RU" dirty="0"/>
              <a:t> измеряет расстояние до единственной истины</a:t>
            </a:r>
          </a:p>
          <a:p>
            <a:pPr lvl="1"/>
            <a:r>
              <a:rPr lang="ru-RU" dirty="0"/>
              <a:t>	BOW / </a:t>
            </a:r>
            <a:r>
              <a:rPr lang="ru-RU" dirty="0" err="1"/>
              <a:t>энкодеры</a:t>
            </a:r>
            <a:r>
              <a:rPr lang="ru-RU" dirty="0"/>
              <a:t> предложений выдают одну точку в пространстве</a:t>
            </a:r>
          </a:p>
        </p:txBody>
      </p:sp>
      <p:graphicFrame>
        <p:nvGraphicFramePr>
          <p:cNvPr id="40" name="Таблица 39">
            <a:extLst>
              <a:ext uri="{FF2B5EF4-FFF2-40B4-BE49-F238E27FC236}">
                <a16:creationId xmlns:a16="http://schemas.microsoft.com/office/drawing/2014/main" id="{089C87F5-F3AA-426B-83C8-B4F5D37C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777301"/>
              </p:ext>
            </p:extLst>
          </p:nvPr>
        </p:nvGraphicFramePr>
        <p:xfrm>
          <a:off x="360230" y="2704491"/>
          <a:ext cx="8423539" cy="228247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426351">
                  <a:extLst>
                    <a:ext uri="{9D8B030D-6E8A-4147-A177-3AD203B41FA5}">
                      <a16:colId xmlns:a16="http://schemas.microsoft.com/office/drawing/2014/main" val="1989864406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071075201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927081877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07869736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298285757"/>
                    </a:ext>
                  </a:extLst>
                </a:gridCol>
              </a:tblGrid>
              <a:tr h="220955"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</a:rPr>
                        <a:t>Домен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>
                          <a:effectLst/>
                        </a:rPr>
                        <a:t>Пример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>
                          <a:effectLst/>
                        </a:rPr>
                        <a:t>Интерпретация 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</a:rPr>
                        <a:t>Интерпретация Б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>
                          <a:effectLst/>
                        </a:rPr>
                        <a:t>Бизнес-последствие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extLst>
                  <a:ext uri="{0D108BD9-81ED-4DB2-BD59-A6C34878D82A}">
                    <a16:rowId xmlns:a16="http://schemas.microsoft.com/office/drawing/2014/main" val="3186484671"/>
                  </a:ext>
                </a:extLst>
              </a:tr>
              <a:tr h="37371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Закупка оборудования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«Эквивалент» в ТЗ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Эквивалент = любой аналог с теми же характеристиками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Эквивалент = только бренды из реестра Минпромторга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Конкурс состоялся / сорван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4055826261"/>
                  </a:ext>
                </a:extLst>
              </a:tr>
              <a:tr h="37371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Строительство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«Под ключ»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Только отделка и инженерия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Полное оснащение мебелью и техникой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Смета: 10 млн vs 25 млн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249161227"/>
                  </a:ext>
                </a:extLst>
              </a:tr>
              <a:tr h="22095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Поставка товаров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«Качественный товар»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Соответствие ГОСТ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Соответствие ТЗ (жёстче)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Приёмка / штраф 30%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4151484060"/>
                  </a:ext>
                </a:extLst>
              </a:tr>
              <a:tr h="29733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Услуги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«Консультационные услуги»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</a:rPr>
                        <a:t>Письменный отчёт (50 стр.)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Личное присутствие эксперта (10 дней)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Экономия / перерасход 500 тыс.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745277317"/>
                  </a:ext>
                </a:extLst>
              </a:tr>
              <a:tr h="29733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Аренда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«Исправное состояние»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Работает на момент передачи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Не требует ремонта 6 месяцев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Ремонт за счёт арендатора / арендодателя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2685482002"/>
                  </a:ext>
                </a:extLst>
              </a:tr>
              <a:tr h="29733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Интеллектуальная собственность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«Передача прав»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Исключительные права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Неисключительные права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 dirty="0">
                          <a:effectLst/>
                        </a:rPr>
                        <a:t>Цена: 10 млн </a:t>
                      </a:r>
                      <a:r>
                        <a:rPr lang="ru-RU" sz="800" b="1" dirty="0" err="1">
                          <a:effectLst/>
                        </a:rPr>
                        <a:t>vs</a:t>
                      </a:r>
                      <a:r>
                        <a:rPr lang="ru-RU" sz="800" b="1" dirty="0">
                          <a:effectLst/>
                        </a:rPr>
                        <a:t> 1 млн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159441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85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Сбор данных. </a:t>
            </a:r>
            <a:r>
              <a:rPr lang="ru" u="sng" dirty="0">
                <a:solidFill>
                  <a:schemeClr val="hlink"/>
                </a:solidFill>
                <a:hlinkClick r:id="rId3"/>
              </a:rPr>
              <a:t>Zakupki.gov.ru</a:t>
            </a:r>
            <a:r>
              <a:rPr lang="ru" dirty="0"/>
              <a:t>. 200k контрактов.</a:t>
            </a:r>
            <a:endParaRPr dirty="0"/>
          </a:p>
        </p:txBody>
      </p:sp>
      <p:sp>
        <p:nvSpPr>
          <p:cNvPr id="88" name="Google Shape;88;p16"/>
          <p:cNvSpPr txBox="1"/>
          <p:nvPr/>
        </p:nvSpPr>
        <p:spPr>
          <a:xfrm>
            <a:off x="311700" y="1085613"/>
            <a:ext cx="82923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Token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Генерация и выбор уникальных значений ИД контрактов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Проверка есть ли нужный формат файла и скачивание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Борьба с блокировками и за многопоточность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Парсинг XML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Парсинг Docx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Сборка датасета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Размещение в Kaggle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Очистка и первичный анализ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69225" y="3763725"/>
            <a:ext cx="8203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Всего ОКПД2 кодов (с повторениями): 211887. Уникальных ОКПД2 кодов: 84. Топ-5 самых частых ОКПД2 кодов: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21    Средства лекарственные и материалы, применяемые в медицинских целях 36805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10    Продукты пищевые 28412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32    Изделия готовые прочие 21144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26    Оборудование компьютерное, электронное и оптическое 10968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20    Вещества химические и продукты химические 7493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89945" cy="3820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7"/>
          <p:cNvGraphicFramePr/>
          <p:nvPr/>
        </p:nvGraphicFramePr>
        <p:xfrm>
          <a:off x="5879550" y="1349038"/>
          <a:ext cx="2952750" cy="339575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191144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6674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1354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514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142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6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52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7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22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8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9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11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9500"/>
            <a:ext cx="6446076" cy="384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6598475" y="1329125"/>
            <a:ext cx="223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10% кодов приходится 59.2%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20% кодов приходится 75.6%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25% кодов приходится 83.2%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233BB-D0A0-47EB-9AFE-47100389FC96}"/>
              </a:ext>
            </a:extLst>
          </p:cNvPr>
          <p:cNvSpPr txBox="1"/>
          <p:nvPr/>
        </p:nvSpPr>
        <p:spPr>
          <a:xfrm>
            <a:off x="6598475" y="2020819"/>
            <a:ext cx="21483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Фундаментальная причина дисбаланса — не только статистика, но и «кризис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моносемии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»: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один текст может интерпретироваться по-разному, редкие классы часто соответствуют нестандартным прочтениям, которые модели теряют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113075" y="38907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Топ-5 самых частых комбинаций меток: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1. ['21']: 3032 записей (30.3%)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2. ['10']: 2121 записей (21.2%)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3. ['32']: 1559 записей (15.6%)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4. ['26']: 796 записей (8.0%)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5. ['43']: 530 записей (5.3%)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Коэффициент сбалансированности (min/max): 0.1144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75" y="1017725"/>
            <a:ext cx="8758950" cy="28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Метрики. Accuracy - бизнес-потребность и результат.</a:t>
            </a:r>
            <a:endParaRPr dirty="0"/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311700" y="1135100"/>
          <a:ext cx="3283125" cy="118863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09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KNN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TF-IDF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0.6867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0.7233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BOW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0.7873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0.7060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1" name="Google Shape;121;p20"/>
          <p:cNvGraphicFramePr/>
          <p:nvPr/>
        </p:nvGraphicFramePr>
        <p:xfrm>
          <a:off x="311700" y="3824800"/>
          <a:ext cx="3283125" cy="118863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09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KNN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TF-IDF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0.7692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0.7233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BOW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0.7893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0.7060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22" name="Google Shape;122;p20"/>
          <p:cNvCxnSpPr/>
          <p:nvPr/>
        </p:nvCxnSpPr>
        <p:spPr>
          <a:xfrm>
            <a:off x="1953263" y="2323700"/>
            <a:ext cx="0" cy="151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" name="Google Shape;123;p20"/>
          <p:cNvSpPr txBox="1"/>
          <p:nvPr/>
        </p:nvSpPr>
        <p:spPr>
          <a:xfrm>
            <a:off x="311700" y="2710000"/>
            <a:ext cx="1662300" cy="1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Tune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2"/>
                </a:solidFill>
              </a:rPr>
              <a:t>GridSearchCV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825" y="1095775"/>
            <a:ext cx="5457974" cy="362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Метрики. Accuracy </a:t>
            </a:r>
            <a:r>
              <a:rPr lang="ru-RU" dirty="0"/>
              <a:t>– сильный дисбаланс классов, </a:t>
            </a:r>
            <a:br>
              <a:rPr lang="ru-RU" dirty="0"/>
            </a:br>
            <a:r>
              <a:rPr lang="en-US" dirty="0"/>
              <a:t>F1 </a:t>
            </a:r>
            <a:r>
              <a:rPr lang="ru-RU" dirty="0"/>
              <a:t>как ключевая метрика</a:t>
            </a:r>
            <a:r>
              <a:rPr lang="ru" dirty="0"/>
              <a:t>.</a:t>
            </a:r>
            <a:endParaRPr dirty="0"/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9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4F0E4-EBF6-4E3C-9039-5B418CB1A67C}"/>
              </a:ext>
            </a:extLst>
          </p:cNvPr>
          <p:cNvSpPr txBox="1"/>
          <p:nvPr/>
        </p:nvSpPr>
        <p:spPr>
          <a:xfrm>
            <a:off x="311700" y="1186755"/>
            <a:ext cx="87577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Accuracy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показывает общую долю верных ответов, но при сильном дисбалансе она может быть высокой, даже если модель игнорирует редкие классы. В нашей задаче редкие классы ОКПД2 не менее важны, чем частые. Поэтому мы выбрали F1-macro — она усредняет качество по каждому классу отдельно. Это честная метрика для несбалансированных данных.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Моносемия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— невидимое допущение: все современные модели предполагают один смысл.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Accuracy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измеряет расстояние до единственной истины.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6CDAA15-302E-43F1-9154-A0B3BCAE0B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494308"/>
                  </p:ext>
                </p:extLst>
              </p:nvPr>
            </p:nvGraphicFramePr>
            <p:xfrm>
              <a:off x="406082" y="2331515"/>
              <a:ext cx="8066376" cy="2809369"/>
            </p:xfrm>
            <a:graphic>
              <a:graphicData uri="http://schemas.openxmlformats.org/drawingml/2006/table">
                <a:tbl>
                  <a:tblPr firstRow="1" firstCol="1" bandRow="1">
                    <a:tableStyleId>{4F43E8D1-C5D9-4DE4-AB5A-096546518407}</a:tableStyleId>
                  </a:tblPr>
                  <a:tblGrid>
                    <a:gridCol w="2688792">
                      <a:extLst>
                        <a:ext uri="{9D8B030D-6E8A-4147-A177-3AD203B41FA5}">
                          <a16:colId xmlns:a16="http://schemas.microsoft.com/office/drawing/2014/main" val="2074965752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1518818549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401241580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Subset Accuracy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Полное совпадение всех кодов документа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14663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Jaccard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sz="10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  <m: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∩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sz="10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  <m: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∪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Пересечение предсказанных и верных кодов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15761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Hamming Loss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sz="10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ij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  <m: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ij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Доля ошибок на бинарных метках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090102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F1-micro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2⋅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2⋅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Общее качество (частые классы)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66024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F1-macro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2⋅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2⋅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Качество на редких классах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24250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6CDAA15-302E-43F1-9154-A0B3BCAE0B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494308"/>
                  </p:ext>
                </p:extLst>
              </p:nvPr>
            </p:nvGraphicFramePr>
            <p:xfrm>
              <a:off x="406082" y="2331515"/>
              <a:ext cx="8066376" cy="2807591"/>
            </p:xfrm>
            <a:graphic>
              <a:graphicData uri="http://schemas.openxmlformats.org/drawingml/2006/table">
                <a:tbl>
                  <a:tblPr firstRow="1" firstCol="1" bandRow="1">
                    <a:tableStyleId>{4F43E8D1-C5D9-4DE4-AB5A-096546518407}</a:tableStyleId>
                  </a:tblPr>
                  <a:tblGrid>
                    <a:gridCol w="2688792">
                      <a:extLst>
                        <a:ext uri="{9D8B030D-6E8A-4147-A177-3AD203B41FA5}">
                          <a16:colId xmlns:a16="http://schemas.microsoft.com/office/drawing/2014/main" val="2074965752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1518818549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4012415806"/>
                        </a:ext>
                      </a:extLst>
                    </a:gridCol>
                  </a:tblGrid>
                  <a:tr h="5625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Subset Accuracy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8602" r="-100226" b="-3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Полное совпадение всех кодов документа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1466317"/>
                      </a:ext>
                    </a:extLst>
                  </a:tr>
                  <a:tr h="5625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Jaccard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109783" r="-10022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Пересечение предсказанных и верных кодов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1576193"/>
                      </a:ext>
                    </a:extLst>
                  </a:tr>
                  <a:tr h="58401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Hamming Loss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201042" r="-100226" b="-189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Доля ошибок на бинарных метках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09010200"/>
                      </a:ext>
                    </a:extLst>
                  </a:tr>
                  <a:tr h="51447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F1-micro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340000" r="-100226" b="-11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Общее качество (частые классы)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6602453"/>
                      </a:ext>
                    </a:extLst>
                  </a:tr>
                  <a:tr h="58401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F1-macro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389583" r="-100226" b="-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Качество на редких классах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242509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1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Стартовое решение задачи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E2B6A-A162-4DD9-ABBC-486CA401870D}"/>
              </a:ext>
            </a:extLst>
          </p:cNvPr>
          <p:cNvSpPr txBox="1"/>
          <p:nvPr/>
        </p:nvSpPr>
        <p:spPr>
          <a:xfrm>
            <a:off x="310597" y="3866737"/>
            <a:ext cx="8520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Бейзлайн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оказался сильным — тексты линейно разделимы. Это задаёт потолок для простых решений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6603CA7-DB79-443B-83D7-A45539D67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888472"/>
              </p:ext>
            </p:extLst>
          </p:nvPr>
        </p:nvGraphicFramePr>
        <p:xfrm>
          <a:off x="311151" y="1401445"/>
          <a:ext cx="8521698" cy="185166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2025649">
                  <a:extLst>
                    <a:ext uri="{9D8B030D-6E8A-4147-A177-3AD203B41FA5}">
                      <a16:colId xmlns:a16="http://schemas.microsoft.com/office/drawing/2014/main" val="3144294955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662539864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912202176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12584345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2560360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195189280"/>
                    </a:ext>
                  </a:extLst>
                </a:gridCol>
                <a:gridCol w="853862">
                  <a:extLst>
                    <a:ext uri="{9D8B030D-6E8A-4147-A177-3AD203B41FA5}">
                      <a16:colId xmlns:a16="http://schemas.microsoft.com/office/drawing/2014/main" val="1340265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</a:rPr>
                        <a:t>Модель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</a:rPr>
                        <a:t>Признаки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Accuracy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F1‑micro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F1‑macro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Hamming Loss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Время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149026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Logistic Regression (</a:t>
                      </a:r>
                      <a:r>
                        <a:rPr lang="ru-RU" b="1">
                          <a:effectLst/>
                        </a:rPr>
                        <a:t>бейзлайн)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BOW (8000)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0.6771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0.7662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0.5247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0.0053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3.6 мин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07220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Случайное угадывание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—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0.0000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0.0248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0.0223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0.4999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—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02295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34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ML-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3FFB770-7735-498E-ADBE-78B852353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721840"/>
              </p:ext>
            </p:extLst>
          </p:nvPr>
        </p:nvGraphicFramePr>
        <p:xfrm>
          <a:off x="1078653" y="1458171"/>
          <a:ext cx="7162800" cy="223266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86954879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579029388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135394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Модель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Гиперпараметры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F1‑macro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42832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TF‑IDF + Logistic Regression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C=1.0, solver='lbfgs'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0.52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96323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TF‑IDF + RidgeClassifier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alpha=1.0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52548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TF‑IDF + </a:t>
                      </a:r>
                      <a:r>
                        <a:rPr lang="en-US" b="0" dirty="0" err="1">
                          <a:effectLst/>
                        </a:rPr>
                        <a:t>XGBoost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max_depth=6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0.54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3599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TF‑IDF + LightGBM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num_leaves=31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0.54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974311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1E66EC-C49D-440E-A558-1105DC4CB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51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8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ML-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E2817E7-0B86-40E1-BC29-D2F0FD401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04075"/>
              </p:ext>
            </p:extLst>
          </p:nvPr>
        </p:nvGraphicFramePr>
        <p:xfrm>
          <a:off x="311700" y="902311"/>
          <a:ext cx="8709457" cy="3068568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151340">
                  <a:extLst>
                    <a:ext uri="{9D8B030D-6E8A-4147-A177-3AD203B41FA5}">
                      <a16:colId xmlns:a16="http://schemas.microsoft.com/office/drawing/2014/main" val="36262166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15312044"/>
                    </a:ext>
                  </a:extLst>
                </a:gridCol>
                <a:gridCol w="1232747">
                  <a:extLst>
                    <a:ext uri="{9D8B030D-6E8A-4147-A177-3AD203B41FA5}">
                      <a16:colId xmlns:a16="http://schemas.microsoft.com/office/drawing/2014/main" val="402922087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3450954144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3951000690"/>
                    </a:ext>
                  </a:extLst>
                </a:gridCol>
                <a:gridCol w="1022773">
                  <a:extLst>
                    <a:ext uri="{9D8B030D-6E8A-4147-A177-3AD203B41FA5}">
                      <a16:colId xmlns:a16="http://schemas.microsoft.com/office/drawing/2014/main" val="3401808755"/>
                    </a:ext>
                  </a:extLst>
                </a:gridCol>
                <a:gridCol w="1063413">
                  <a:extLst>
                    <a:ext uri="{9D8B030D-6E8A-4147-A177-3AD203B41FA5}">
                      <a16:colId xmlns:a16="http://schemas.microsoft.com/office/drawing/2014/main" val="2461938923"/>
                    </a:ext>
                  </a:extLst>
                </a:gridCol>
                <a:gridCol w="784784">
                  <a:extLst>
                    <a:ext uri="{9D8B030D-6E8A-4147-A177-3AD203B41FA5}">
                      <a16:colId xmlns:a16="http://schemas.microsoft.com/office/drawing/2014/main" val="916054072"/>
                    </a:ext>
                  </a:extLst>
                </a:gridCol>
              </a:tblGrid>
              <a:tr h="435666">
                <a:tc>
                  <a:txBody>
                    <a:bodyPr/>
                    <a:lstStyle/>
                    <a:p>
                      <a:pPr algn="l"/>
                      <a:r>
                        <a:rPr lang="ru-RU" sz="1300" b="0" dirty="0">
                          <a:effectLst/>
                        </a:rPr>
                        <a:t>Модель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</a:rPr>
                        <a:t>Гиперпараметры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</a:rPr>
                        <a:t>Признаки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effectLst/>
                        </a:rPr>
                        <a:t>Subset Acc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effectLst/>
                        </a:rPr>
                        <a:t>F1‑micro</a:t>
                      </a:r>
                      <a:endParaRPr lang="en-US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effectLst/>
                        </a:rPr>
                        <a:t>F1‑macro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effectLst/>
                        </a:rPr>
                        <a:t>Hamming Loss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</a:rPr>
                        <a:t>Время (мин)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extLst>
                  <a:ext uri="{0D108BD9-81ED-4DB2-BD59-A6C34878D82A}">
                    <a16:rowId xmlns:a16="http://schemas.microsoft.com/office/drawing/2014/main" val="1450900843"/>
                  </a:ext>
                </a:extLst>
              </a:tr>
              <a:tr h="586856">
                <a:tc>
                  <a:txBody>
                    <a:bodyPr/>
                    <a:lstStyle/>
                    <a:p>
                      <a:r>
                        <a:rPr lang="en-US" sz="1300" b="1" dirty="0" err="1">
                          <a:effectLst/>
                        </a:rPr>
                        <a:t>LightGBM</a:t>
                      </a:r>
                      <a:r>
                        <a:rPr lang="en-US" sz="1300" b="1" dirty="0">
                          <a:effectLst/>
                        </a:rPr>
                        <a:t> Tuned</a:t>
                      </a:r>
                      <a:endParaRPr lang="en-US" sz="1300" b="0" dirty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fr-FR" sz="1300" b="0" dirty="0">
                          <a:effectLst/>
                        </a:rPr>
                        <a:t>n_est=300, leaves=63, lr=0.03</a:t>
                      </a:r>
                      <a:endParaRPr lang="fr-FR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+ </a:t>
                      </a:r>
                      <a:r>
                        <a:rPr lang="ru-RU" sz="1300" b="0">
                          <a:effectLst/>
                        </a:rPr>
                        <a:t>мета + кластеры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</a:rPr>
                        <a:t>0.6472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~0.766*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~0.525*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~0.0053*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31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1373117938"/>
                  </a:ext>
                </a:extLst>
              </a:tr>
              <a:tr h="586856"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Logistic Regression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</a:rPr>
                        <a:t>C=10</a:t>
                      </a:r>
                      <a:endParaRPr lang="en-US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(8000)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0.6463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0.7662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0.5247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0.0053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8.4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3964519201"/>
                  </a:ext>
                </a:extLst>
              </a:tr>
              <a:tr h="435666"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XGBoost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fr-FR" sz="1300" b="0">
                          <a:effectLst/>
                        </a:rPr>
                        <a:t>n_est=200, lr=0.05</a:t>
                      </a:r>
                      <a:endParaRPr lang="fr-FR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(8000)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0.6379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~0.760*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~0.518*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~0.0055*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9.7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2942031229"/>
                  </a:ext>
                </a:extLst>
              </a:tr>
              <a:tr h="435666"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Random Forest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n_est=100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(8000)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0.6393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0.5875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0.3156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0.0077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116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2185035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766AE01-EC42-48AE-8D17-46B6106E10AE}"/>
              </a:ext>
            </a:extLst>
          </p:cNvPr>
          <p:cNvSpPr txBox="1"/>
          <p:nvPr/>
        </p:nvSpPr>
        <p:spPr>
          <a:xfrm>
            <a:off x="311700" y="3970879"/>
            <a:ext cx="87094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ML-модели достигли потолка: F1‑macro ≈ 0.52.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Дело в потере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порядка слов и контекста в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BOW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что критично для распознавания редких классов ОКПД2. Линейные модели не могут удерживать комбинаторный рост интерпретаций, необходим учёт последовательной структуры текста</a:t>
            </a:r>
            <a:br>
              <a:rPr lang="ru-RU" dirty="0"/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Для улучшения работы с редкими классами и повышения общей точности необходим переход к рекуррентным сетям, учитывающим последовательную структуру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006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1B27247-3EED-40BA-9A5D-C83BFB4A3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61659"/>
              </p:ext>
            </p:extLst>
          </p:nvPr>
        </p:nvGraphicFramePr>
        <p:xfrm>
          <a:off x="311700" y="1152526"/>
          <a:ext cx="8432675" cy="3078348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008875">
                  <a:extLst>
                    <a:ext uri="{9D8B030D-6E8A-4147-A177-3AD203B41FA5}">
                      <a16:colId xmlns:a16="http://schemas.microsoft.com/office/drawing/2014/main" val="3244699225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1345159447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4189582096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1994909860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2343797767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3250598610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3556761637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Модель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Архитектура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Subset Acc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F1‑micro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F1‑macro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Время (мин)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Параметры (</a:t>
                      </a:r>
                      <a:r>
                        <a:rPr lang="en-US" sz="1100" b="0">
                          <a:effectLst/>
                        </a:rPr>
                        <a:t>M)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extLst>
                  <a:ext uri="{0D108BD9-81ED-4DB2-BD59-A6C34878D82A}">
                    <a16:rowId xmlns:a16="http://schemas.microsoft.com/office/drawing/2014/main" val="2972430530"/>
                  </a:ext>
                </a:extLst>
              </a:tr>
              <a:tr h="349515">
                <a:tc>
                  <a:txBody>
                    <a:bodyPr/>
                    <a:lstStyle/>
                    <a:p>
                      <a:r>
                        <a:rPr lang="en-US" sz="1100" b="1" dirty="0">
                          <a:effectLst/>
                        </a:rPr>
                        <a:t>Bi‑GRU (RNN)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Bi‑GRU (2 </a:t>
                      </a:r>
                      <a:r>
                        <a:rPr lang="ru-RU" sz="1100" b="0">
                          <a:effectLst/>
                        </a:rPr>
                        <a:t>слоя) + </a:t>
                      </a:r>
                      <a:r>
                        <a:rPr lang="en-US" sz="1100" b="0">
                          <a:effectLst/>
                        </a:rPr>
                        <a:t>Dropout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0.7764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0.8177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0.5080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84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26.05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3330106781"/>
                  </a:ext>
                </a:extLst>
              </a:tr>
              <a:tr h="349515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Wider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1024 → 512 + BatchNorm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0.7070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0.7800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0.5608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5.5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8.77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2702112226"/>
                  </a:ext>
                </a:extLst>
              </a:tr>
              <a:tr h="259732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Deep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512 → 256 + BatchNorm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0.7193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0.7857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0.5508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4.25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721130029"/>
                  </a:ext>
                </a:extLst>
              </a:tr>
              <a:tr h="259732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Shallow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256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0.6952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0.7766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0.5413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3.9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2.07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3001526429"/>
                  </a:ext>
                </a:extLst>
              </a:tr>
              <a:tr h="349515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Heavy Dropout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512 → 256 → 128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0.6749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0.7576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0.3662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5.1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4.27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1623207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47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205E0B8-61A3-4352-BE9F-7D65794D9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192482"/>
              </p:ext>
            </p:extLst>
          </p:nvPr>
        </p:nvGraphicFramePr>
        <p:xfrm>
          <a:off x="311700" y="1126278"/>
          <a:ext cx="8521700" cy="201930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821170">
                  <a:extLst>
                    <a:ext uri="{9D8B030D-6E8A-4147-A177-3AD203B41FA5}">
                      <a16:colId xmlns:a16="http://schemas.microsoft.com/office/drawing/2014/main" val="1801473694"/>
                    </a:ext>
                  </a:extLst>
                </a:gridCol>
                <a:gridCol w="2233510">
                  <a:extLst>
                    <a:ext uri="{9D8B030D-6E8A-4147-A177-3AD203B41FA5}">
                      <a16:colId xmlns:a16="http://schemas.microsoft.com/office/drawing/2014/main" val="2248314354"/>
                    </a:ext>
                  </a:extLst>
                </a:gridCol>
                <a:gridCol w="2233510">
                  <a:extLst>
                    <a:ext uri="{9D8B030D-6E8A-4147-A177-3AD203B41FA5}">
                      <a16:colId xmlns:a16="http://schemas.microsoft.com/office/drawing/2014/main" val="1661672431"/>
                    </a:ext>
                  </a:extLst>
                </a:gridCol>
                <a:gridCol w="2233510">
                  <a:extLst>
                    <a:ext uri="{9D8B030D-6E8A-4147-A177-3AD203B41FA5}">
                      <a16:colId xmlns:a16="http://schemas.microsoft.com/office/drawing/2014/main" val="3075663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</a:rPr>
                        <a:t>Метрика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Bi‑GRU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Лучшая </a:t>
                      </a:r>
                      <a:r>
                        <a:rPr lang="en-US" b="0">
                          <a:effectLst/>
                        </a:rPr>
                        <a:t>ML (LR)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Улучшение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101251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Subset Accuracy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0.7764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0.6771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+9.9%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30912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F1‑micro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0.8177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0.7662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+5.2%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3705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F1‑macro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0.5080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0.5247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– (LR </a:t>
                      </a:r>
                      <a:r>
                        <a:rPr lang="ru-RU" b="0">
                          <a:effectLst/>
                        </a:rPr>
                        <a:t>лучше на редких)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0588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Hamming Loss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0.0043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0.0053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-18.9%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682500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492658-94D2-46F4-B30C-1680E78E0988}"/>
              </a:ext>
            </a:extLst>
          </p:cNvPr>
          <p:cNvSpPr txBox="1"/>
          <p:nvPr/>
        </p:nvSpPr>
        <p:spPr>
          <a:xfrm>
            <a:off x="311699" y="3427344"/>
            <a:ext cx="8520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Bi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‑GRU – лучшая модель проекта.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Она единственная учитывает последовательную структуру текста и контекст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Bidirectional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), что даёт максимальную общую точность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463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Сервис. Архитектура</a:t>
            </a:r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557950" y="469847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15</a:t>
            </a:fld>
            <a:endParaRPr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57B048C-4322-4402-885F-56BC93B61072}"/>
              </a:ext>
            </a:extLst>
          </p:cNvPr>
          <p:cNvSpPr/>
          <p:nvPr/>
        </p:nvSpPr>
        <p:spPr>
          <a:xfrm>
            <a:off x="501227" y="1192107"/>
            <a:ext cx="3874346" cy="36914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FastApi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сервис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2743E30-6E98-4F33-9166-1D75FFA8D571}"/>
              </a:ext>
            </a:extLst>
          </p:cNvPr>
          <p:cNvSpPr/>
          <p:nvPr/>
        </p:nvSpPr>
        <p:spPr>
          <a:xfrm>
            <a:off x="676480" y="1904609"/>
            <a:ext cx="1383455" cy="276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Текст договора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1D1C1CE-2BA7-465C-B039-2AC98CBCFC8F}"/>
              </a:ext>
            </a:extLst>
          </p:cNvPr>
          <p:cNvSpPr/>
          <p:nvPr/>
        </p:nvSpPr>
        <p:spPr>
          <a:xfrm>
            <a:off x="2526026" y="1851700"/>
            <a:ext cx="1383455" cy="4576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dirty="0" err="1">
                <a:solidFill>
                  <a:schemeClr val="tx1"/>
                </a:solidFill>
              </a:rPr>
              <a:t>Токенизация</a:t>
            </a:r>
            <a:r>
              <a:rPr lang="ru-RU" sz="1200" dirty="0">
                <a:solidFill>
                  <a:schemeClr val="tx1"/>
                </a:solidFill>
              </a:rPr>
              <a:t> + </a:t>
            </a:r>
            <a:r>
              <a:rPr lang="ru-RU" sz="1200" dirty="0" err="1">
                <a:solidFill>
                  <a:schemeClr val="tx1"/>
                </a:solidFill>
              </a:rPr>
              <a:t>паддиннг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B940E18-111A-46CC-B9BD-9497B8DC3421}"/>
              </a:ext>
            </a:extLst>
          </p:cNvPr>
          <p:cNvSpPr/>
          <p:nvPr/>
        </p:nvSpPr>
        <p:spPr>
          <a:xfrm>
            <a:off x="676479" y="2955318"/>
            <a:ext cx="1383455" cy="8986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Коды ОКПД 2 + уверенность + метрики качества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C5A9CA7-DE43-41E6-BC79-C0FE905BCFDD}"/>
              </a:ext>
            </a:extLst>
          </p:cNvPr>
          <p:cNvSpPr/>
          <p:nvPr/>
        </p:nvSpPr>
        <p:spPr>
          <a:xfrm>
            <a:off x="2526026" y="3175803"/>
            <a:ext cx="1383455" cy="4576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Bi-GRU </a:t>
            </a:r>
            <a:r>
              <a:rPr lang="ru-RU" sz="1200" dirty="0" err="1">
                <a:solidFill>
                  <a:schemeClr val="tx1"/>
                </a:solidFill>
              </a:rPr>
              <a:t>инференс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D6476CE-20CE-48C9-AE58-EDBADB5C5A76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059934" y="2080527"/>
            <a:ext cx="466092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1D4FF650-6B92-4BC7-B98F-3AFA8D26E05C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3217754" y="2309355"/>
            <a:ext cx="0" cy="8664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1370FAF1-6E0D-42BD-AB0E-DD29389B2B7E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2059934" y="3404631"/>
            <a:ext cx="46609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F578D59E-FDD4-4461-9914-C995C8D7C6FC}"/>
              </a:ext>
            </a:extLst>
          </p:cNvPr>
          <p:cNvSpPr/>
          <p:nvPr/>
        </p:nvSpPr>
        <p:spPr>
          <a:xfrm>
            <a:off x="4957954" y="1192107"/>
            <a:ext cx="3874346" cy="36914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Observability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CC0421A-7196-44E6-87EC-548565960B0B}"/>
              </a:ext>
            </a:extLst>
          </p:cNvPr>
          <p:cNvSpPr/>
          <p:nvPr/>
        </p:nvSpPr>
        <p:spPr>
          <a:xfrm>
            <a:off x="5242553" y="1851700"/>
            <a:ext cx="1383455" cy="8986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Mlflow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метрики + артефакты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CCA677D-E2A9-4AFE-8A47-A084910C6A46}"/>
              </a:ext>
            </a:extLst>
          </p:cNvPr>
          <p:cNvSpPr/>
          <p:nvPr/>
        </p:nvSpPr>
        <p:spPr>
          <a:xfrm>
            <a:off x="7092100" y="1843953"/>
            <a:ext cx="1383455" cy="8986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loguru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 err="1">
                <a:solidFill>
                  <a:schemeClr val="tx1"/>
                </a:solidFill>
              </a:rPr>
              <a:t>логи</a:t>
            </a:r>
            <a:r>
              <a:rPr lang="ru-RU" sz="1200" dirty="0">
                <a:solidFill>
                  <a:schemeClr val="tx1"/>
                </a:solidFill>
              </a:rPr>
              <a:t> запросов</a:t>
            </a: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59F7ED2F-E027-4548-9DB9-A20B0B48F026}"/>
              </a:ext>
            </a:extLst>
          </p:cNvPr>
          <p:cNvCxnSpPr>
            <a:cxnSpLocks/>
            <a:stCxn id="11" idx="3"/>
            <a:endCxn id="31" idx="1"/>
          </p:cNvCxnSpPr>
          <p:nvPr/>
        </p:nvCxnSpPr>
        <p:spPr>
          <a:xfrm>
            <a:off x="4375573" y="3037840"/>
            <a:ext cx="58238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Сервис. Описание</a:t>
            </a:r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16</a:t>
            </a:fld>
            <a:endParaRPr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A6AC574-65D2-441C-BBEB-560A62C3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26" y="1017725"/>
            <a:ext cx="6825586" cy="3804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04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Микросервис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на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FastAPI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Реализован REST API для классификации текстов договоров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Эндпоинт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POST 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predict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Принимает текст договора в формате JSON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Возвращает предсказанные коды ОКПД2, уверенность модели и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метрики качества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Эндпоинт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 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health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проверка работоспособности сервиса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 старте автоматически загружается: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Лучшая модель 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Bi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-GRU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bigru_prd.keras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Токенизатор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bigru_tokenizer.pkl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Метрики качества из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baseline_comparison.csv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Наблюдаемость и мониторинг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MLflow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Tracking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Логирование всех экспериментов 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гиперпараметры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метрики, артефакты)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Model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Registry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версионирование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модели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models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:/okpd2_classifier@PRD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loguru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Логирование каждого запроса (время, текст, предсказанные коды, уверенность, длительность)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Метрики в ответе API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Subset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Accuracy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F1‑micro, F1‑macro,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Hamming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Loss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возвращаются вместе с предсказанием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63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Сервис. Реализация</a:t>
            </a:r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17</a:t>
            </a:fld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1C5A65-EAED-4A17-9B2A-56D5BF684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66" y="872490"/>
            <a:ext cx="7592907" cy="427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37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0AE4F-F386-4E68-B023-7DAD005D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Сервис. Логирование.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B5E954-4A45-492D-AE18-6E0F7E028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065822"/>
            <a:ext cx="8520600" cy="1194789"/>
          </a:xfrm>
        </p:spPr>
        <p:txBody>
          <a:bodyPr>
            <a:normAutofit/>
          </a:bodyPr>
          <a:lstStyle/>
          <a:p>
            <a:r>
              <a:rPr lang="en-US" sz="800" dirty="0"/>
              <a:t>2026-06-15 13:25:57 | INFO | ============================================================</a:t>
            </a:r>
          </a:p>
          <a:p>
            <a:r>
              <a:rPr lang="en-US" sz="800" dirty="0"/>
              <a:t>2026-06-15 13:25:57 | INFO | </a:t>
            </a:r>
            <a:r>
              <a:rPr lang="ru-RU" sz="800" dirty="0"/>
              <a:t>Сервис готов к работе</a:t>
            </a:r>
          </a:p>
          <a:p>
            <a:r>
              <a:rPr lang="ru-RU" sz="800" dirty="0"/>
              <a:t>2026-06-15 13:25:57 | </a:t>
            </a:r>
            <a:r>
              <a:rPr lang="en-US" sz="800" dirty="0"/>
              <a:t>INFO | Swagger UI: http://127.0.0.1:8000/docs</a:t>
            </a:r>
          </a:p>
          <a:p>
            <a:r>
              <a:rPr lang="en-US" sz="800" dirty="0"/>
              <a:t>2026-06-15 13:25:57 | INFO | ============================================================</a:t>
            </a:r>
          </a:p>
          <a:p>
            <a:r>
              <a:rPr lang="en-US" sz="800" dirty="0"/>
              <a:t>2026-06-15 13:26:44 | INFO | Input: </a:t>
            </a:r>
            <a:r>
              <a:rPr lang="ru-RU" sz="800" dirty="0"/>
              <a:t>Поставка лекарственных препаратов для медицинского применения. МНН: Амоксициллин.... | </a:t>
            </a:r>
            <a:r>
              <a:rPr lang="en-US" sz="800" dirty="0"/>
              <a:t>Prediction: ['17'] | Confidence: [0.9998986721038818] | Latency: 2.396s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A92446-7216-4EC5-BC49-8A200B9DB8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68F0E-865C-4679-9EE1-CFA7352630C7}"/>
              </a:ext>
            </a:extLst>
          </p:cNvPr>
          <p:cNvSpPr txBox="1"/>
          <p:nvPr/>
        </p:nvSpPr>
        <p:spPr>
          <a:xfrm>
            <a:off x="311700" y="1017725"/>
            <a:ext cx="88323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Логирование (</a:t>
            </a:r>
            <a:r>
              <a:rPr lang="en-US" dirty="0" err="1"/>
              <a:t>loguru</a:t>
            </a:r>
            <a:r>
              <a:rPr lang="en-US" dirty="0"/>
              <a:t>)</a:t>
            </a:r>
          </a:p>
          <a:p>
            <a:r>
              <a:rPr lang="en-US" dirty="0"/>
              <a:t>	</a:t>
            </a:r>
            <a:r>
              <a:rPr lang="ru-RU" dirty="0"/>
              <a:t>Каждый запрос к </a:t>
            </a:r>
            <a:r>
              <a:rPr lang="en-US" dirty="0"/>
              <a:t>POST /predict </a:t>
            </a:r>
            <a:r>
              <a:rPr lang="ru-RU" dirty="0" err="1"/>
              <a:t>логируется</a:t>
            </a:r>
            <a:r>
              <a:rPr lang="ru-RU" dirty="0"/>
              <a:t> в файл </a:t>
            </a:r>
            <a:r>
              <a:rPr lang="en-US" dirty="0"/>
              <a:t>logs/app.log </a:t>
            </a:r>
            <a:r>
              <a:rPr lang="ru-RU" dirty="0"/>
              <a:t>и в консоль</a:t>
            </a:r>
          </a:p>
          <a:p>
            <a:r>
              <a:rPr lang="ru-RU" dirty="0"/>
              <a:t>Мониторинг (</a:t>
            </a:r>
            <a:r>
              <a:rPr lang="en-US" dirty="0" err="1"/>
              <a:t>MLflow</a:t>
            </a:r>
            <a:r>
              <a:rPr lang="en-US" dirty="0"/>
              <a:t>)</a:t>
            </a:r>
          </a:p>
          <a:p>
            <a:r>
              <a:rPr lang="en-US" dirty="0"/>
              <a:t>	</a:t>
            </a:r>
            <a:r>
              <a:rPr lang="en-US" dirty="0" err="1"/>
              <a:t>MLflow</a:t>
            </a:r>
            <a:r>
              <a:rPr lang="en-US" dirty="0"/>
              <a:t> Tracking – </a:t>
            </a:r>
            <a:r>
              <a:rPr lang="ru-RU" dirty="0"/>
              <a:t>логирование всех экспериментов:</a:t>
            </a:r>
          </a:p>
          <a:p>
            <a:r>
              <a:rPr lang="ru-RU" dirty="0"/>
              <a:t>	</a:t>
            </a:r>
            <a:r>
              <a:rPr lang="ru-RU" dirty="0" err="1"/>
              <a:t>Гиперпараметры</a:t>
            </a:r>
            <a:r>
              <a:rPr lang="ru-RU" dirty="0"/>
              <a:t> моделей</a:t>
            </a:r>
          </a:p>
          <a:p>
            <a:r>
              <a:rPr lang="ru-RU" dirty="0"/>
              <a:t>	Метрики: </a:t>
            </a:r>
            <a:r>
              <a:rPr lang="en-US" dirty="0"/>
              <a:t>Subset Accuracy, F1‑micro, F1‑macro, Hamming Loss</a:t>
            </a:r>
          </a:p>
          <a:p>
            <a:r>
              <a:rPr lang="en-US" dirty="0"/>
              <a:t>	</a:t>
            </a:r>
            <a:r>
              <a:rPr lang="ru-RU" dirty="0"/>
              <a:t>Артефакты: </a:t>
            </a:r>
            <a:r>
              <a:rPr lang="en-US" dirty="0" err="1"/>
              <a:t>bigru_prd.keras</a:t>
            </a:r>
            <a:r>
              <a:rPr lang="en-US" dirty="0"/>
              <a:t>, </a:t>
            </a:r>
            <a:r>
              <a:rPr lang="en-US" dirty="0" err="1"/>
              <a:t>bigru_tokenizer.pkl</a:t>
            </a:r>
            <a:endParaRPr lang="en-US" dirty="0"/>
          </a:p>
          <a:p>
            <a:r>
              <a:rPr lang="en-US" dirty="0" err="1"/>
              <a:t>MLflow</a:t>
            </a:r>
            <a:r>
              <a:rPr lang="en-US" dirty="0"/>
              <a:t> Model Registry – </a:t>
            </a:r>
            <a:r>
              <a:rPr lang="ru-RU" dirty="0" err="1"/>
              <a:t>версионирование</a:t>
            </a:r>
            <a:r>
              <a:rPr lang="ru-RU" dirty="0"/>
              <a:t> модели:</a:t>
            </a:r>
          </a:p>
          <a:p>
            <a:r>
              <a:rPr lang="ru-RU" dirty="0"/>
              <a:t>	</a:t>
            </a:r>
            <a:r>
              <a:rPr lang="en-US" dirty="0"/>
              <a:t>PRD-</a:t>
            </a:r>
            <a:r>
              <a:rPr lang="ru-RU" dirty="0"/>
              <a:t>версия: </a:t>
            </a:r>
            <a:r>
              <a:rPr lang="en-US" dirty="0"/>
              <a:t>models:/okpd2_classifier@PRD</a:t>
            </a:r>
          </a:p>
          <a:p>
            <a:r>
              <a:rPr lang="en-US" dirty="0"/>
              <a:t>Health Check</a:t>
            </a:r>
          </a:p>
          <a:p>
            <a:r>
              <a:rPr lang="en-US" dirty="0"/>
              <a:t>	</a:t>
            </a:r>
            <a:r>
              <a:rPr lang="ru-RU" dirty="0" err="1"/>
              <a:t>Эндпоинт</a:t>
            </a:r>
            <a:r>
              <a:rPr lang="ru-RU" dirty="0"/>
              <a:t> </a:t>
            </a:r>
            <a:r>
              <a:rPr lang="en-US" dirty="0"/>
              <a:t>GET /health – </a:t>
            </a:r>
            <a:r>
              <a:rPr lang="ru-RU" dirty="0"/>
              <a:t>проверка работоспособности сервиса</a:t>
            </a:r>
          </a:p>
          <a:p>
            <a:r>
              <a:rPr lang="ru-RU" dirty="0"/>
              <a:t>Дополнительный </a:t>
            </a:r>
            <a:r>
              <a:rPr lang="ru-RU" dirty="0" err="1"/>
              <a:t>эндпоинт</a:t>
            </a:r>
            <a:endParaRPr lang="ru-RU" dirty="0"/>
          </a:p>
          <a:p>
            <a:r>
              <a:rPr lang="ru-RU" dirty="0"/>
              <a:t>	</a:t>
            </a:r>
            <a:r>
              <a:rPr lang="en-US" dirty="0"/>
              <a:t>GET /metrics – </a:t>
            </a:r>
            <a:r>
              <a:rPr lang="ru-RU" dirty="0"/>
              <a:t>возвращает метрики качества модели в </a:t>
            </a:r>
            <a:r>
              <a:rPr lang="en-US" dirty="0"/>
              <a:t>JSON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093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Практический итог</a:t>
            </a:r>
            <a:endParaRPr dirty="0"/>
          </a:p>
        </p:txBody>
      </p:sp>
      <p:sp>
        <p:nvSpPr>
          <p:cNvPr id="139" name="Google Shape;13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19</a:t>
            </a:fld>
            <a:endParaRPr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478ECED-26BE-4CAF-828C-8F4B2C514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111638"/>
              </p:ext>
            </p:extLst>
          </p:nvPr>
        </p:nvGraphicFramePr>
        <p:xfrm>
          <a:off x="311700" y="1017725"/>
          <a:ext cx="8520600" cy="256317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2402239">
                  <a:extLst>
                    <a:ext uri="{9D8B030D-6E8A-4147-A177-3AD203B41FA5}">
                      <a16:colId xmlns:a16="http://schemas.microsoft.com/office/drawing/2014/main" val="3399025858"/>
                    </a:ext>
                  </a:extLst>
                </a:gridCol>
                <a:gridCol w="6118361">
                  <a:extLst>
                    <a:ext uri="{9D8B030D-6E8A-4147-A177-3AD203B41FA5}">
                      <a16:colId xmlns:a16="http://schemas.microsoft.com/office/drawing/2014/main" val="938584271"/>
                    </a:ext>
                  </a:extLst>
                </a:gridCol>
              </a:tblGrid>
              <a:tr h="277847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Что сделано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Результат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20504" marR="120504" marT="75315" marB="75315" anchor="ctr"/>
                </a:tc>
                <a:extLst>
                  <a:ext uri="{0D108BD9-81ED-4DB2-BD59-A6C34878D82A}">
                    <a16:rowId xmlns:a16="http://schemas.microsoft.com/office/drawing/2014/main" val="510881528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Сбор и очистка данных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effectLst/>
                        </a:rPr>
                        <a:t>200k</a:t>
                      </a:r>
                      <a:r>
                        <a:rPr lang="ru-RU" sz="1100" b="0" dirty="0">
                          <a:effectLst/>
                        </a:rPr>
                        <a:t> контрактов с </a:t>
                      </a:r>
                      <a:r>
                        <a:rPr lang="ru-RU" sz="1100" b="0" u="none" strike="noStrike" dirty="0">
                          <a:solidFill>
                            <a:srgbClr val="3964FE"/>
                          </a:solidFill>
                          <a:effectLst/>
                          <a:hlinkClick r:id="rId3"/>
                        </a:rPr>
                        <a:t>Zakupki.gov.ru</a:t>
                      </a:r>
                      <a:r>
                        <a:rPr lang="ru-RU" sz="1100" b="0" dirty="0">
                          <a:effectLst/>
                        </a:rPr>
                        <a:t> → 138k после очистки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3870278860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en-US" sz="1100" b="1">
                          <a:effectLst/>
                        </a:rPr>
                        <a:t>EDA </a:t>
                      </a:r>
                      <a:r>
                        <a:rPr lang="ru-RU" sz="1100" b="1">
                          <a:effectLst/>
                        </a:rPr>
                        <a:t>и анализ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Выявлен </a:t>
                      </a:r>
                      <a:r>
                        <a:rPr lang="ru-RU" sz="1100" b="1" dirty="0">
                          <a:effectLst/>
                        </a:rPr>
                        <a:t>сильный дисбаланс </a:t>
                      </a:r>
                      <a:r>
                        <a:rPr lang="ru-RU" sz="1100" b="0" dirty="0">
                          <a:effectLst/>
                        </a:rPr>
                        <a:t>(10% кодов = 59.2% данных) → выбор метрик F1‑micro/</a:t>
                      </a:r>
                      <a:r>
                        <a:rPr lang="ru-RU" sz="1100" b="0" dirty="0" err="1">
                          <a:effectLst/>
                        </a:rPr>
                        <a:t>macro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578945377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en-US" sz="1100" b="1">
                          <a:effectLst/>
                        </a:rPr>
                        <a:t>ML-</a:t>
                      </a:r>
                      <a:r>
                        <a:rPr lang="ru-RU" sz="1100" b="1">
                          <a:effectLst/>
                        </a:rPr>
                        <a:t>эксперименты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Logistic Regression (</a:t>
                      </a:r>
                      <a:r>
                        <a:rPr lang="en-US" sz="1100" b="1" dirty="0">
                          <a:effectLst/>
                        </a:rPr>
                        <a:t>0.677 </a:t>
                      </a:r>
                      <a:r>
                        <a:rPr lang="en-US" sz="1100" b="0" dirty="0" err="1">
                          <a:effectLst/>
                        </a:rPr>
                        <a:t>за</a:t>
                      </a:r>
                      <a:r>
                        <a:rPr lang="en-US" sz="1100" b="0" dirty="0">
                          <a:effectLst/>
                        </a:rPr>
                        <a:t> 8 </a:t>
                      </a:r>
                      <a:r>
                        <a:rPr lang="en-US" sz="1100" b="0" dirty="0" err="1">
                          <a:effectLst/>
                        </a:rPr>
                        <a:t>мин</a:t>
                      </a:r>
                      <a:r>
                        <a:rPr lang="en-US" sz="1100" b="0" dirty="0">
                          <a:effectLst/>
                        </a:rPr>
                        <a:t>), </a:t>
                      </a:r>
                      <a:r>
                        <a:rPr lang="en-US" sz="1100" b="0" dirty="0" err="1">
                          <a:effectLst/>
                        </a:rPr>
                        <a:t>LightGBM</a:t>
                      </a:r>
                      <a:r>
                        <a:rPr lang="en-US" sz="1100" b="0" dirty="0">
                          <a:effectLst/>
                        </a:rPr>
                        <a:t> Tuned (</a:t>
                      </a:r>
                      <a:r>
                        <a:rPr lang="en-US" sz="1100" b="1" dirty="0">
                          <a:effectLst/>
                        </a:rPr>
                        <a:t>0.647</a:t>
                      </a:r>
                      <a:r>
                        <a:rPr lang="en-US" sz="1100" b="0" dirty="0">
                          <a:effectLst/>
                        </a:rPr>
                        <a:t> </a:t>
                      </a:r>
                      <a:r>
                        <a:rPr lang="en-US" sz="1100" b="0" dirty="0" err="1">
                          <a:effectLst/>
                        </a:rPr>
                        <a:t>за</a:t>
                      </a:r>
                      <a:r>
                        <a:rPr lang="en-US" sz="1100" b="0" dirty="0">
                          <a:effectLst/>
                        </a:rPr>
                        <a:t> 31 </a:t>
                      </a:r>
                      <a:r>
                        <a:rPr lang="en-US" sz="1100" b="0" dirty="0" err="1">
                          <a:effectLst/>
                        </a:rPr>
                        <a:t>мин</a:t>
                      </a:r>
                      <a:r>
                        <a:rPr lang="en-US" sz="1100" b="0" dirty="0">
                          <a:effectLst/>
                        </a:rPr>
                        <a:t>)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475055032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en-US" sz="1100" b="1">
                          <a:effectLst/>
                        </a:rPr>
                        <a:t>DL-</a:t>
                      </a:r>
                      <a:r>
                        <a:rPr lang="ru-RU" sz="1100" b="1">
                          <a:effectLst/>
                        </a:rPr>
                        <a:t>эксперименты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Bi‑GRU (</a:t>
                      </a:r>
                      <a:r>
                        <a:rPr lang="en-US" sz="1100" b="1" dirty="0">
                          <a:effectLst/>
                        </a:rPr>
                        <a:t>0.776 </a:t>
                      </a:r>
                      <a:r>
                        <a:rPr lang="en-US" sz="1100" b="0" dirty="0">
                          <a:effectLst/>
                        </a:rPr>
                        <a:t>Accuracy, F1‑micro </a:t>
                      </a:r>
                      <a:r>
                        <a:rPr lang="en-US" sz="1100" b="1" dirty="0">
                          <a:effectLst/>
                        </a:rPr>
                        <a:t>0.818</a:t>
                      </a:r>
                      <a:r>
                        <a:rPr lang="en-US" sz="1100" b="0" dirty="0">
                          <a:effectLst/>
                        </a:rPr>
                        <a:t>) – </a:t>
                      </a:r>
                      <a:r>
                        <a:rPr lang="ru-RU" sz="1100" b="0" dirty="0">
                          <a:effectLst/>
                        </a:rPr>
                        <a:t>лучшая модель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2861389848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Сервис и наблюдаемость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FastAPI + Swagger, </a:t>
                      </a:r>
                      <a:r>
                        <a:rPr lang="ru-RU" sz="1100" b="0">
                          <a:effectLst/>
                        </a:rPr>
                        <a:t>логирование (</a:t>
                      </a:r>
                      <a:r>
                        <a:rPr lang="en-US" sz="1100" b="0">
                          <a:effectLst/>
                        </a:rPr>
                        <a:t>loguru), </a:t>
                      </a:r>
                      <a:r>
                        <a:rPr lang="ru-RU" sz="1100" b="0">
                          <a:effectLst/>
                        </a:rPr>
                        <a:t>мониторинг (</a:t>
                      </a:r>
                      <a:r>
                        <a:rPr lang="en-US" sz="1100" b="0">
                          <a:effectLst/>
                        </a:rPr>
                        <a:t>MLflow)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3005489389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Анализ ошибок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Выявлены проблемные классы (32 ↔ 43), 45% ошибок </a:t>
                      </a:r>
                      <a:r>
                        <a:rPr lang="ru-RU" sz="1100" b="1" dirty="0">
                          <a:solidFill>
                            <a:srgbClr val="FF0000"/>
                          </a:solidFill>
                          <a:effectLst/>
                        </a:rPr>
                        <a:t>неоднозначность интерпретации</a:t>
                      </a:r>
                      <a:endParaRPr lang="ru-RU" sz="1100" b="1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17334501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5CA646-97DF-4E4E-B8FC-CD9AD72348B9}"/>
              </a:ext>
            </a:extLst>
          </p:cNvPr>
          <p:cNvSpPr txBox="1"/>
          <p:nvPr/>
        </p:nvSpPr>
        <p:spPr>
          <a:xfrm>
            <a:off x="2455333" y="40692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https://github.com/aldarovav/YearProject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Главный теоретический итог</a:t>
            </a:r>
            <a:endParaRPr dirty="0"/>
          </a:p>
        </p:txBody>
      </p:sp>
      <p:sp>
        <p:nvSpPr>
          <p:cNvPr id="139" name="Google Shape;13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20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9CE76-09DA-41C2-A616-A40CAB38A82A}"/>
              </a:ext>
            </a:extLst>
          </p:cNvPr>
          <p:cNvSpPr txBox="1"/>
          <p:nvPr/>
        </p:nvSpPr>
        <p:spPr>
          <a:xfrm>
            <a:off x="355663" y="2089259"/>
            <a:ext cx="84326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Проблема не только в дисбалансе классов.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ходе работы мы идентифицировали и назвали фундаментальный кризис современных моделей —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кризис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моносемии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(семантическая дегенерация, комбинаторный рост интерпретаций).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Существующие модели (включая нашу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Bi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-GRU) по-прежнему вынуждены усреднять смыслы, теряя альтернативы.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8661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Направления развития</a:t>
            </a:r>
            <a:endParaRPr dirty="0"/>
          </a:p>
        </p:txBody>
      </p:sp>
      <p:sp>
        <p:nvSpPr>
          <p:cNvPr id="139" name="Google Shape;13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21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9CE76-09DA-41C2-A616-A40CAB38A82A}"/>
              </a:ext>
            </a:extLst>
          </p:cNvPr>
          <p:cNvSpPr txBox="1"/>
          <p:nvPr/>
        </p:nvSpPr>
        <p:spPr>
          <a:xfrm>
            <a:off x="311700" y="1246750"/>
            <a:ext cx="84326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b="1">
                <a:solidFill>
                  <a:srgbClr val="0F1115"/>
                </a:solidFill>
                <a:effectLst/>
                <a:latin typeface="quote-cjk-patch"/>
              </a:defRPr>
            </a:lvl1pPr>
          </a:lstStyle>
          <a:p>
            <a:r>
              <a:rPr lang="ru-RU" b="0" dirty="0"/>
              <a:t>Переход от </a:t>
            </a:r>
            <a:r>
              <a:rPr lang="ru-RU" b="0" dirty="0" err="1"/>
              <a:t>моносемии</a:t>
            </a:r>
            <a:r>
              <a:rPr lang="ru-RU" b="0" dirty="0"/>
              <a:t> к </a:t>
            </a:r>
            <a:r>
              <a:rPr lang="ru-RU" dirty="0"/>
              <a:t>онтологическому плюрализму </a:t>
            </a:r>
          </a:p>
          <a:p>
            <a:r>
              <a:rPr lang="ru-RU" b="0" dirty="0"/>
              <a:t>Внедрение герменевтики конфликта интерпретаций</a:t>
            </a:r>
          </a:p>
          <a:p>
            <a:r>
              <a:rPr lang="ru-RU" b="0" dirty="0"/>
              <a:t>Разработка MCT-арбитра (</a:t>
            </a:r>
            <a:r>
              <a:rPr lang="ru-RU" b="0" dirty="0" err="1"/>
              <a:t>Maximally</a:t>
            </a:r>
            <a:r>
              <a:rPr lang="ru-RU" b="0" dirty="0"/>
              <a:t> </a:t>
            </a:r>
            <a:r>
              <a:rPr lang="ru-RU" b="0" dirty="0" err="1"/>
              <a:t>Coherent</a:t>
            </a:r>
            <a:r>
              <a:rPr lang="ru-RU" b="0" dirty="0"/>
              <a:t> </a:t>
            </a:r>
            <a:r>
              <a:rPr lang="ru-RU" b="0" dirty="0" err="1"/>
              <a:t>Theory</a:t>
            </a:r>
            <a:r>
              <a:rPr lang="ru-RU" b="0" dirty="0"/>
              <a:t>) для выбора и обоснования смысла</a:t>
            </a:r>
          </a:p>
          <a:p>
            <a:r>
              <a:rPr lang="ru-RU" b="0" dirty="0"/>
              <a:t>От «утюга» (</a:t>
            </a:r>
            <a:r>
              <a:rPr lang="ru-RU" b="0" dirty="0" err="1"/>
              <a:t>усреднителя</a:t>
            </a:r>
            <a:r>
              <a:rPr lang="ru-RU" b="0" dirty="0"/>
              <a:t>) к «картографу напряжений»</a:t>
            </a:r>
          </a:p>
          <a:p>
            <a:endParaRPr lang="ru-RU" b="0" dirty="0"/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Диагноз «кризиса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моносемии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» созвучен синтетической философии Л.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Вервоурта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(2026) и его MCT-критерию. Планируем дальнейшее развитие темы в русле онтологического плюрализма, в том числе в сотрудничестве с автором.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67013449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1737</Words>
  <Application>Microsoft Office PowerPoint</Application>
  <PresentationFormat>Экран (16:9)</PresentationFormat>
  <Paragraphs>391</Paragraphs>
  <Slides>21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Courier New</vt:lpstr>
      <vt:lpstr>Menlo</vt:lpstr>
      <vt:lpstr>quote-cjk-patch</vt:lpstr>
      <vt:lpstr>Simple Light</vt:lpstr>
      <vt:lpstr>Извлечение содержания предмета сделки из текстов договорных документов</vt:lpstr>
      <vt:lpstr>Уточнение цели: классификация договора в зависимости от предмета по второму уровню ОКПД2</vt:lpstr>
      <vt:lpstr>Главная проблема: кризис моносемии</vt:lpstr>
      <vt:lpstr>Сбор данных. Zakupki.gov.ru. 200k контрактов.</vt:lpstr>
      <vt:lpstr>EDA</vt:lpstr>
      <vt:lpstr>EDA</vt:lpstr>
      <vt:lpstr>EDA</vt:lpstr>
      <vt:lpstr>Метрики. Accuracy - бизнес-потребность и результат.</vt:lpstr>
      <vt:lpstr>Метрики. Accuracy – сильный дисбаланс классов,  F1 как ключевая метрика.</vt:lpstr>
      <vt:lpstr>Стартовое решение задачи</vt:lpstr>
      <vt:lpstr>Эксперименты с ML-подходами</vt:lpstr>
      <vt:lpstr>Эксперименты с ML-подходами</vt:lpstr>
      <vt:lpstr>Эксперименты с DL-подходами</vt:lpstr>
      <vt:lpstr>Эксперименты с DL-подходами</vt:lpstr>
      <vt:lpstr>Сервис. Архитектура</vt:lpstr>
      <vt:lpstr>Сервис. Описание</vt:lpstr>
      <vt:lpstr>Сервис. Реализация</vt:lpstr>
      <vt:lpstr>Сервис. Логирование.</vt:lpstr>
      <vt:lpstr>Практический итог</vt:lpstr>
      <vt:lpstr>Главный теоретический итог</vt:lpstr>
      <vt:lpstr>Направления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Извлечение содержания предмета сделки из текстов договорных документов</dc:title>
  <dc:creator>Lenovo</dc:creator>
  <cp:lastModifiedBy>Alexander Aldarov</cp:lastModifiedBy>
  <cp:revision>27</cp:revision>
  <dcterms:modified xsi:type="dcterms:W3CDTF">2026-06-15T13:46:43Z</dcterms:modified>
</cp:coreProperties>
</file>