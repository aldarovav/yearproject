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43E8D1-C5D9-4DE4-AB5A-096546518407}">
  <a:tblStyle styleId="{4F43E8D1-C5D9-4DE4-AB5A-09654651840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77d9294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77d9294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77d9294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77d9294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677d9294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677d9294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677d9294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677d9294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77d9294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677d9294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677d9294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677d9294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77d9294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77d9294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677d92944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677d9294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677d9294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677d9294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zakupki.gov.ru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Извлечение содержания предмета сделки из текстов договорных документов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628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97: </a:t>
            </a:r>
            <a:r>
              <a:rPr lang="ru"/>
              <a:t>Алдаров Александр (@Aldarov)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Куратор: Савелий Прохоров (@Savely_Prokhorov)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Предпосылки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880875" y="1321275"/>
            <a:ext cx="1274100" cy="487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Goals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7285650" y="1321275"/>
            <a:ext cx="1274100" cy="487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DML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934950" y="3122325"/>
            <a:ext cx="1274100" cy="4875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DT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3539100" y="1808766"/>
            <a:ext cx="2065800" cy="111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Инвариантные процессы  </a:t>
            </a:r>
            <a:endParaRPr/>
          </a:p>
        </p:txBody>
      </p:sp>
      <p:cxnSp>
        <p:nvCxnSpPr>
          <p:cNvPr id="65" name="Google Shape;65;p14"/>
          <p:cNvCxnSpPr>
            <a:stCxn id="61" idx="3"/>
            <a:endCxn id="62" idx="1"/>
          </p:cNvCxnSpPr>
          <p:nvPr/>
        </p:nvCxnSpPr>
        <p:spPr>
          <a:xfrm>
            <a:off x="2154975" y="1565025"/>
            <a:ext cx="513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4"/>
          <p:cNvCxnSpPr>
            <a:stCxn id="62" idx="2"/>
            <a:endCxn id="63" idx="3"/>
          </p:cNvCxnSpPr>
          <p:nvPr/>
        </p:nvCxnSpPr>
        <p:spPr>
          <a:xfrm flipH="1">
            <a:off x="5209200" y="1808775"/>
            <a:ext cx="2713500" cy="15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>
            <a:stCxn id="63" idx="1"/>
            <a:endCxn id="61" idx="2"/>
          </p:cNvCxnSpPr>
          <p:nvPr/>
        </p:nvCxnSpPr>
        <p:spPr>
          <a:xfrm rot="10800000">
            <a:off x="1517850" y="1808775"/>
            <a:ext cx="2417100" cy="15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4"/>
          <p:cNvSpPr/>
          <p:nvPr/>
        </p:nvSpPr>
        <p:spPr>
          <a:xfrm>
            <a:off x="880875" y="4360025"/>
            <a:ext cx="1274100" cy="487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Начальный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2951850" y="4360025"/>
            <a:ext cx="1274100" cy="487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развитии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5022825" y="4360025"/>
            <a:ext cx="1274100" cy="487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Зрелый</a:t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093800" y="4360025"/>
            <a:ext cx="1274100" cy="4875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Передовой</a:t>
            </a:r>
            <a:endParaRPr/>
          </a:p>
        </p:txBody>
      </p:sp>
      <p:cxnSp>
        <p:nvCxnSpPr>
          <p:cNvPr id="72" name="Google Shape;72;p14"/>
          <p:cNvCxnSpPr>
            <a:stCxn id="68" idx="3"/>
            <a:endCxn id="69" idx="1"/>
          </p:cNvCxnSpPr>
          <p:nvPr/>
        </p:nvCxnSpPr>
        <p:spPr>
          <a:xfrm>
            <a:off x="2154975" y="4603775"/>
            <a:ext cx="79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9" idx="3"/>
            <a:endCxn id="70" idx="1"/>
          </p:cNvCxnSpPr>
          <p:nvPr/>
        </p:nvCxnSpPr>
        <p:spPr>
          <a:xfrm>
            <a:off x="4225950" y="4603775"/>
            <a:ext cx="79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70" idx="3"/>
            <a:endCxn id="71" idx="1"/>
          </p:cNvCxnSpPr>
          <p:nvPr/>
        </p:nvCxnSpPr>
        <p:spPr>
          <a:xfrm>
            <a:off x="6296925" y="4603775"/>
            <a:ext cx="79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10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</a:t>
            </a:r>
            <a:r>
              <a:rPr lang="ru"/>
              <a:t>ь - извлечение содержания предмета сделки из текстов договорных документов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311700" y="1555950"/>
            <a:ext cx="8292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Уточнение цели: классификация договора в зависимости от предмета по второму уровню ОКПД2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Задачи: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Сбор данных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EDA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Метрики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Модели и результаты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Сервис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Развитие и улучшение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 данных. </a:t>
            </a:r>
            <a:r>
              <a:rPr lang="ru" u="sng">
                <a:solidFill>
                  <a:schemeClr val="hlink"/>
                </a:solidFill>
                <a:hlinkClick r:id="rId3"/>
              </a:rPr>
              <a:t>Zakupki.gov.ru</a:t>
            </a:r>
            <a:r>
              <a:rPr lang="ru"/>
              <a:t>. 200k контрактов.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311700" y="1085613"/>
            <a:ext cx="8292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Token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Генерация и выбор уникальных значений ИД контрактов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Проверка есть ли нужный формат файла и скачивание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Борьба с блокировками и за многопоточность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Парсинг XML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Парсинг Docx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Сборка датасета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Размещение в Kaggle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Очистка и первичный анализ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69225" y="3763725"/>
            <a:ext cx="8203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Всего ОКПД2 кодов (с повторениями): 211887. Уникальных ОКПД2 кодов: 84. Топ-5 самых частых ОКПД2 кодов: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21    Средства лекарственные и материалы, применяемые в медицинских целях 36805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10    Продукты пищевые 28412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32    Изделия готовые прочие 21144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26    Оборудование компьютерное, электронное и оптическое 10968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20    Вещества химические и продукты химические 7493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589945" cy="3820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7"/>
          <p:cNvGraphicFramePr/>
          <p:nvPr/>
        </p:nvGraphicFramePr>
        <p:xfrm>
          <a:off x="5879550" y="1349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476375"/>
                <a:gridCol w="1476375"/>
              </a:tblGrid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191144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6674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1354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514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142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3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9500"/>
            <a:ext cx="6446076" cy="3841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6598475" y="1329125"/>
            <a:ext cx="223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10% кодов приходится 59.2%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20% </a:t>
            </a:r>
            <a:r>
              <a:rPr lang="ru" sz="1000">
                <a:solidFill>
                  <a:schemeClr val="dk1"/>
                </a:solidFill>
              </a:rPr>
              <a:t>кодов </a:t>
            </a:r>
            <a:r>
              <a:rPr lang="ru" sz="1000">
                <a:solidFill>
                  <a:schemeClr val="dk1"/>
                </a:solidFill>
              </a:rPr>
              <a:t>приходится 75.6%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На 25% кодов приходится 83.2% 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EDA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113075" y="3890725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Топ-5 самых частых комбинаций меток: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1. ['21']: 3032 записей (30.3%)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2. ['10']: 2121 записей (21.2%)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3. ['32']: 1559 записей (15.6%)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4. ['26']: 796 записей (8.0%)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5. ['43']: 530 записей (5.3%)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Коэффициент сбалансированности (min/max): 0.1144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75" y="1017725"/>
            <a:ext cx="8758950" cy="287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Метрики. Accuracy - бизнес-потребность и результат.</a:t>
            </a:r>
            <a:endParaRPr/>
          </a:p>
        </p:txBody>
      </p:sp>
      <p:graphicFrame>
        <p:nvGraphicFramePr>
          <p:cNvPr id="120" name="Google Shape;120;p20"/>
          <p:cNvGraphicFramePr/>
          <p:nvPr/>
        </p:nvGraphicFramePr>
        <p:xfrm>
          <a:off x="311700" y="11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094375"/>
                <a:gridCol w="1094375"/>
                <a:gridCol w="1094375"/>
              </a:tblGrid>
              <a:tr h="3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KNN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TF-IDF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0.6867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0.7233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0.7873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0.7060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1" name="Google Shape;121;p20"/>
          <p:cNvGraphicFramePr/>
          <p:nvPr/>
        </p:nvGraphicFramePr>
        <p:xfrm>
          <a:off x="311700" y="382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{4F43E8D1-C5D9-4DE4-AB5A-096546518407}</a:tableStyleId>
              </a:tblPr>
              <a:tblGrid>
                <a:gridCol w="1094375"/>
                <a:gridCol w="1094375"/>
                <a:gridCol w="1094375"/>
              </a:tblGrid>
              <a:tr h="3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LR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KNN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TF-IDF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0.7692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0.7233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BOW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0.7893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0.7060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22" name="Google Shape;122;p20"/>
          <p:cNvCxnSpPr/>
          <p:nvPr/>
        </p:nvCxnSpPr>
        <p:spPr>
          <a:xfrm>
            <a:off x="1953263" y="2323700"/>
            <a:ext cx="0" cy="15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0"/>
          <p:cNvSpPr txBox="1"/>
          <p:nvPr/>
        </p:nvSpPr>
        <p:spPr>
          <a:xfrm>
            <a:off x="311700" y="2710000"/>
            <a:ext cx="16623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Tune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2"/>
                </a:solidFill>
              </a:rPr>
              <a:t>GridSearchCV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825" y="1095775"/>
            <a:ext cx="5457974" cy="3626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Сервис</a:t>
            </a:r>
            <a:endParaRPr/>
          </a:p>
        </p:txBody>
      </p:sp>
      <p:pic>
        <p:nvPicPr>
          <p:cNvPr id="131" name="Google Shape;131;p21" title="Adobe Express - test_final_api.py - Visual Studio Code 2026-01-13 20-53-20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832" y="1017725"/>
            <a:ext cx="7392336" cy="397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Роли и планы</a:t>
            </a:r>
            <a:endParaRPr/>
          </a:p>
        </p:txBody>
      </p:sp>
      <p:sp>
        <p:nvSpPr>
          <p:cNvPr id="138" name="Google Shape;138;p22"/>
          <p:cNvSpPr txBox="1"/>
          <p:nvPr/>
        </p:nvSpPr>
        <p:spPr>
          <a:xfrm>
            <a:off x="566250" y="1470700"/>
            <a:ext cx="794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Сервис обратной связи и автоматического исправления ошибок.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ru" sz="1800">
                <a:solidFill>
                  <a:schemeClr val="dk2"/>
                </a:solidFill>
              </a:rPr>
              <a:t>Морфологическая токенизация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